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83" r:id="rId18"/>
    <p:sldId id="308" r:id="rId19"/>
    <p:sldId id="307" r:id="rId2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725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40764" y="3481578"/>
            <a:ext cx="9110471" cy="756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40764" y="3481578"/>
            <a:ext cx="9110471" cy="756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r>
              <a:rPr spc="-10" dirty="0"/>
              <a:t>General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74295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r>
              <a:rPr spc="-10" dirty="0"/>
              <a:t>General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74295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r>
              <a:rPr spc="-10" dirty="0"/>
              <a:t>General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74295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r>
              <a:rPr spc="-10" dirty="0"/>
              <a:t>General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74295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27341" y="1013586"/>
            <a:ext cx="10516870" cy="5340350"/>
          </a:xfrm>
          <a:custGeom>
            <a:avLst/>
            <a:gdLst/>
            <a:ahLst/>
            <a:cxnLst/>
            <a:rect l="l" t="t" r="r" b="b"/>
            <a:pathLst>
              <a:path w="10516870" h="5340350">
                <a:moveTo>
                  <a:pt x="0" y="5332818"/>
                </a:moveTo>
                <a:lnTo>
                  <a:pt x="10516806" y="5339943"/>
                </a:lnTo>
              </a:path>
              <a:path w="10516870" h="5340350">
                <a:moveTo>
                  <a:pt x="0" y="0"/>
                </a:moveTo>
                <a:lnTo>
                  <a:pt x="10516806" y="7112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r>
              <a:rPr spc="-10" dirty="0"/>
              <a:t>General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74295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27341" y="634640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20">
                <a:moveTo>
                  <a:pt x="0" y="0"/>
                </a:moveTo>
                <a:lnTo>
                  <a:pt x="10516806" y="7124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27341" y="6346939"/>
            <a:ext cx="519430" cy="264795"/>
          </a:xfrm>
          <a:custGeom>
            <a:avLst/>
            <a:gdLst/>
            <a:ahLst/>
            <a:cxnLst/>
            <a:rect l="l" t="t" r="r" b="b"/>
            <a:pathLst>
              <a:path w="519430" h="264795">
                <a:moveTo>
                  <a:pt x="519163" y="0"/>
                </a:moveTo>
                <a:lnTo>
                  <a:pt x="0" y="0"/>
                </a:lnTo>
                <a:lnTo>
                  <a:pt x="0" y="264172"/>
                </a:lnTo>
                <a:lnTo>
                  <a:pt x="519163" y="264172"/>
                </a:lnTo>
                <a:lnTo>
                  <a:pt x="519163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67587" y="374980"/>
            <a:ext cx="7982280" cy="5789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7587" y="1069974"/>
            <a:ext cx="5389245" cy="4587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1638533" y="6663258"/>
            <a:ext cx="431165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r>
              <a:rPr spc="-10" dirty="0"/>
              <a:t>General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72921" y="6356949"/>
            <a:ext cx="235584" cy="2063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74295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form.openai.com/docs/api-reference/fine-tuning/create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form.openai.com/docs/api-reference/embeddings/create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hyperlink" Target="https://www.ibm.com/think/insights/top-ai-agent-framework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eplearning.ai/short-courses/langchain-chat-with-your-data/" TargetMode="External"/><Relationship Id="rId2" Type="http://schemas.openxmlformats.org/officeDocument/2006/relationships/hyperlink" Target="https://www.youtube.com/watch?v=cyCsNKhba0U" TargetMode="Externa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7999"/>
                </a:lnTo>
                <a:lnTo>
                  <a:pt x="12192000" y="68579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069332" y="0"/>
            <a:ext cx="1878964" cy="3593465"/>
          </a:xfrm>
          <a:custGeom>
            <a:avLst/>
            <a:gdLst/>
            <a:ahLst/>
            <a:cxnLst/>
            <a:rect l="l" t="t" r="r" b="b"/>
            <a:pathLst>
              <a:path w="1878964" h="3593465">
                <a:moveTo>
                  <a:pt x="1878670" y="0"/>
                </a:moveTo>
                <a:lnTo>
                  <a:pt x="0" y="0"/>
                </a:lnTo>
                <a:lnTo>
                  <a:pt x="0" y="3593163"/>
                </a:lnTo>
                <a:lnTo>
                  <a:pt x="48469" y="3592551"/>
                </a:lnTo>
                <a:lnTo>
                  <a:pt x="96638" y="3590727"/>
                </a:lnTo>
                <a:lnTo>
                  <a:pt x="144490" y="3587705"/>
                </a:lnTo>
                <a:lnTo>
                  <a:pt x="192012" y="3583499"/>
                </a:lnTo>
                <a:lnTo>
                  <a:pt x="239187" y="3578124"/>
                </a:lnTo>
                <a:lnTo>
                  <a:pt x="286003" y="3571596"/>
                </a:lnTo>
                <a:lnTo>
                  <a:pt x="332443" y="3563928"/>
                </a:lnTo>
                <a:lnTo>
                  <a:pt x="378493" y="3555135"/>
                </a:lnTo>
                <a:lnTo>
                  <a:pt x="424139" y="3545233"/>
                </a:lnTo>
                <a:lnTo>
                  <a:pt x="469365" y="3534236"/>
                </a:lnTo>
                <a:lnTo>
                  <a:pt x="514156" y="3522158"/>
                </a:lnTo>
                <a:lnTo>
                  <a:pt x="558499" y="3509015"/>
                </a:lnTo>
                <a:lnTo>
                  <a:pt x="602377" y="3494820"/>
                </a:lnTo>
                <a:lnTo>
                  <a:pt x="645777" y="3479590"/>
                </a:lnTo>
                <a:lnTo>
                  <a:pt x="688683" y="3463338"/>
                </a:lnTo>
                <a:lnTo>
                  <a:pt x="731081" y="3446079"/>
                </a:lnTo>
                <a:lnTo>
                  <a:pt x="772956" y="3427828"/>
                </a:lnTo>
                <a:lnTo>
                  <a:pt x="814293" y="3408600"/>
                </a:lnTo>
                <a:lnTo>
                  <a:pt x="855077" y="3388409"/>
                </a:lnTo>
                <a:lnTo>
                  <a:pt x="895294" y="3367270"/>
                </a:lnTo>
                <a:lnTo>
                  <a:pt x="934929" y="3345199"/>
                </a:lnTo>
                <a:lnTo>
                  <a:pt x="973967" y="3322208"/>
                </a:lnTo>
                <a:lnTo>
                  <a:pt x="1012393" y="3298315"/>
                </a:lnTo>
                <a:lnTo>
                  <a:pt x="1050193" y="3273532"/>
                </a:lnTo>
                <a:lnTo>
                  <a:pt x="1087351" y="3247875"/>
                </a:lnTo>
                <a:lnTo>
                  <a:pt x="1123853" y="3221358"/>
                </a:lnTo>
                <a:lnTo>
                  <a:pt x="1159684" y="3193996"/>
                </a:lnTo>
                <a:lnTo>
                  <a:pt x="1194829" y="3165805"/>
                </a:lnTo>
                <a:lnTo>
                  <a:pt x="1229274" y="3136798"/>
                </a:lnTo>
                <a:lnTo>
                  <a:pt x="1263004" y="3106990"/>
                </a:lnTo>
                <a:lnTo>
                  <a:pt x="1296004" y="3076397"/>
                </a:lnTo>
                <a:lnTo>
                  <a:pt x="1328259" y="3045032"/>
                </a:lnTo>
                <a:lnTo>
                  <a:pt x="1359754" y="3012911"/>
                </a:lnTo>
                <a:lnTo>
                  <a:pt x="1390475" y="2980048"/>
                </a:lnTo>
                <a:lnTo>
                  <a:pt x="1420406" y="2946458"/>
                </a:lnTo>
                <a:lnTo>
                  <a:pt x="1449534" y="2912156"/>
                </a:lnTo>
                <a:lnTo>
                  <a:pt x="1477843" y="2877156"/>
                </a:lnTo>
                <a:lnTo>
                  <a:pt x="1505318" y="2841474"/>
                </a:lnTo>
                <a:lnTo>
                  <a:pt x="1531945" y="2805123"/>
                </a:lnTo>
                <a:lnTo>
                  <a:pt x="1557709" y="2768119"/>
                </a:lnTo>
                <a:lnTo>
                  <a:pt x="1582595" y="2730476"/>
                </a:lnTo>
                <a:lnTo>
                  <a:pt x="1606588" y="2692209"/>
                </a:lnTo>
                <a:lnTo>
                  <a:pt x="1629674" y="2653333"/>
                </a:lnTo>
                <a:lnTo>
                  <a:pt x="1651838" y="2613862"/>
                </a:lnTo>
                <a:lnTo>
                  <a:pt x="1673064" y="2573812"/>
                </a:lnTo>
                <a:lnTo>
                  <a:pt x="1693339" y="2533197"/>
                </a:lnTo>
                <a:lnTo>
                  <a:pt x="1712647" y="2492031"/>
                </a:lnTo>
                <a:lnTo>
                  <a:pt x="1730974" y="2450329"/>
                </a:lnTo>
                <a:lnTo>
                  <a:pt x="1748305" y="2408107"/>
                </a:lnTo>
                <a:lnTo>
                  <a:pt x="1764624" y="2365379"/>
                </a:lnTo>
                <a:lnTo>
                  <a:pt x="1779918" y="2322159"/>
                </a:lnTo>
                <a:lnTo>
                  <a:pt x="1794172" y="2278462"/>
                </a:lnTo>
                <a:lnTo>
                  <a:pt x="1807370" y="2234304"/>
                </a:lnTo>
                <a:lnTo>
                  <a:pt x="1819498" y="2189698"/>
                </a:lnTo>
                <a:lnTo>
                  <a:pt x="1830541" y="2144659"/>
                </a:lnTo>
                <a:lnTo>
                  <a:pt x="1840484" y="2099203"/>
                </a:lnTo>
                <a:lnTo>
                  <a:pt x="1849314" y="2053344"/>
                </a:lnTo>
                <a:lnTo>
                  <a:pt x="1857013" y="2007096"/>
                </a:lnTo>
                <a:lnTo>
                  <a:pt x="1863569" y="1960474"/>
                </a:lnTo>
                <a:lnTo>
                  <a:pt x="1868966" y="1913494"/>
                </a:lnTo>
                <a:lnTo>
                  <a:pt x="1873189" y="1866170"/>
                </a:lnTo>
                <a:lnTo>
                  <a:pt x="1876224" y="1818515"/>
                </a:lnTo>
                <a:lnTo>
                  <a:pt x="1878056" y="1770547"/>
                </a:lnTo>
                <a:lnTo>
                  <a:pt x="1878670" y="1722278"/>
                </a:lnTo>
                <a:lnTo>
                  <a:pt x="1878670" y="0"/>
                </a:lnTo>
                <a:close/>
              </a:path>
            </a:pathLst>
          </a:custGeom>
          <a:solidFill>
            <a:srgbClr val="B123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22225" y="0"/>
            <a:ext cx="1878964" cy="3593465"/>
          </a:xfrm>
          <a:custGeom>
            <a:avLst/>
            <a:gdLst/>
            <a:ahLst/>
            <a:cxnLst/>
            <a:rect l="l" t="t" r="r" b="b"/>
            <a:pathLst>
              <a:path w="1878964" h="3593465">
                <a:moveTo>
                  <a:pt x="1878670" y="0"/>
                </a:moveTo>
                <a:lnTo>
                  <a:pt x="0" y="0"/>
                </a:lnTo>
                <a:lnTo>
                  <a:pt x="0" y="3593163"/>
                </a:lnTo>
                <a:lnTo>
                  <a:pt x="48469" y="3592551"/>
                </a:lnTo>
                <a:lnTo>
                  <a:pt x="96638" y="3590727"/>
                </a:lnTo>
                <a:lnTo>
                  <a:pt x="144490" y="3587705"/>
                </a:lnTo>
                <a:lnTo>
                  <a:pt x="192012" y="3583499"/>
                </a:lnTo>
                <a:lnTo>
                  <a:pt x="239187" y="3578124"/>
                </a:lnTo>
                <a:lnTo>
                  <a:pt x="286003" y="3571596"/>
                </a:lnTo>
                <a:lnTo>
                  <a:pt x="332443" y="3563928"/>
                </a:lnTo>
                <a:lnTo>
                  <a:pt x="378493" y="3555135"/>
                </a:lnTo>
                <a:lnTo>
                  <a:pt x="424139" y="3545233"/>
                </a:lnTo>
                <a:lnTo>
                  <a:pt x="469365" y="3534236"/>
                </a:lnTo>
                <a:lnTo>
                  <a:pt x="514156" y="3522158"/>
                </a:lnTo>
                <a:lnTo>
                  <a:pt x="558499" y="3509015"/>
                </a:lnTo>
                <a:lnTo>
                  <a:pt x="602377" y="3494820"/>
                </a:lnTo>
                <a:lnTo>
                  <a:pt x="645777" y="3479590"/>
                </a:lnTo>
                <a:lnTo>
                  <a:pt x="688683" y="3463338"/>
                </a:lnTo>
                <a:lnTo>
                  <a:pt x="731081" y="3446079"/>
                </a:lnTo>
                <a:lnTo>
                  <a:pt x="772956" y="3427828"/>
                </a:lnTo>
                <a:lnTo>
                  <a:pt x="814293" y="3408600"/>
                </a:lnTo>
                <a:lnTo>
                  <a:pt x="855077" y="3388409"/>
                </a:lnTo>
                <a:lnTo>
                  <a:pt x="895294" y="3367270"/>
                </a:lnTo>
                <a:lnTo>
                  <a:pt x="934929" y="3345199"/>
                </a:lnTo>
                <a:lnTo>
                  <a:pt x="973967" y="3322208"/>
                </a:lnTo>
                <a:lnTo>
                  <a:pt x="1012393" y="3298315"/>
                </a:lnTo>
                <a:lnTo>
                  <a:pt x="1050193" y="3273532"/>
                </a:lnTo>
                <a:lnTo>
                  <a:pt x="1087351" y="3247875"/>
                </a:lnTo>
                <a:lnTo>
                  <a:pt x="1123853" y="3221358"/>
                </a:lnTo>
                <a:lnTo>
                  <a:pt x="1159684" y="3193996"/>
                </a:lnTo>
                <a:lnTo>
                  <a:pt x="1194829" y="3165805"/>
                </a:lnTo>
                <a:lnTo>
                  <a:pt x="1229274" y="3136798"/>
                </a:lnTo>
                <a:lnTo>
                  <a:pt x="1263004" y="3106990"/>
                </a:lnTo>
                <a:lnTo>
                  <a:pt x="1296004" y="3076397"/>
                </a:lnTo>
                <a:lnTo>
                  <a:pt x="1328259" y="3045032"/>
                </a:lnTo>
                <a:lnTo>
                  <a:pt x="1359754" y="3012911"/>
                </a:lnTo>
                <a:lnTo>
                  <a:pt x="1390475" y="2980048"/>
                </a:lnTo>
                <a:lnTo>
                  <a:pt x="1420406" y="2946458"/>
                </a:lnTo>
                <a:lnTo>
                  <a:pt x="1449534" y="2912156"/>
                </a:lnTo>
                <a:lnTo>
                  <a:pt x="1477843" y="2877156"/>
                </a:lnTo>
                <a:lnTo>
                  <a:pt x="1505318" y="2841474"/>
                </a:lnTo>
                <a:lnTo>
                  <a:pt x="1531945" y="2805123"/>
                </a:lnTo>
                <a:lnTo>
                  <a:pt x="1557709" y="2768119"/>
                </a:lnTo>
                <a:lnTo>
                  <a:pt x="1582595" y="2730476"/>
                </a:lnTo>
                <a:lnTo>
                  <a:pt x="1606588" y="2692209"/>
                </a:lnTo>
                <a:lnTo>
                  <a:pt x="1629674" y="2653333"/>
                </a:lnTo>
                <a:lnTo>
                  <a:pt x="1651838" y="2613862"/>
                </a:lnTo>
                <a:lnTo>
                  <a:pt x="1673064" y="2573812"/>
                </a:lnTo>
                <a:lnTo>
                  <a:pt x="1693339" y="2533197"/>
                </a:lnTo>
                <a:lnTo>
                  <a:pt x="1712647" y="2492031"/>
                </a:lnTo>
                <a:lnTo>
                  <a:pt x="1730974" y="2450329"/>
                </a:lnTo>
                <a:lnTo>
                  <a:pt x="1748305" y="2408107"/>
                </a:lnTo>
                <a:lnTo>
                  <a:pt x="1764624" y="2365379"/>
                </a:lnTo>
                <a:lnTo>
                  <a:pt x="1779918" y="2322159"/>
                </a:lnTo>
                <a:lnTo>
                  <a:pt x="1794172" y="2278462"/>
                </a:lnTo>
                <a:lnTo>
                  <a:pt x="1807370" y="2234304"/>
                </a:lnTo>
                <a:lnTo>
                  <a:pt x="1819498" y="2189698"/>
                </a:lnTo>
                <a:lnTo>
                  <a:pt x="1830541" y="2144659"/>
                </a:lnTo>
                <a:lnTo>
                  <a:pt x="1840484" y="2099203"/>
                </a:lnTo>
                <a:lnTo>
                  <a:pt x="1849314" y="2053344"/>
                </a:lnTo>
                <a:lnTo>
                  <a:pt x="1857013" y="2007096"/>
                </a:lnTo>
                <a:lnTo>
                  <a:pt x="1863569" y="1960474"/>
                </a:lnTo>
                <a:lnTo>
                  <a:pt x="1868966" y="1913494"/>
                </a:lnTo>
                <a:lnTo>
                  <a:pt x="1873189" y="1866170"/>
                </a:lnTo>
                <a:lnTo>
                  <a:pt x="1876224" y="1818515"/>
                </a:lnTo>
                <a:lnTo>
                  <a:pt x="1878056" y="1770547"/>
                </a:lnTo>
                <a:lnTo>
                  <a:pt x="1878670" y="1722278"/>
                </a:lnTo>
                <a:lnTo>
                  <a:pt x="1878670" y="0"/>
                </a:lnTo>
                <a:close/>
              </a:path>
            </a:pathLst>
          </a:custGeom>
          <a:solidFill>
            <a:srgbClr val="B123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663064" cy="3593465"/>
          </a:xfrm>
          <a:custGeom>
            <a:avLst/>
            <a:gdLst/>
            <a:ahLst/>
            <a:cxnLst/>
            <a:rect l="l" t="t" r="r" b="b"/>
            <a:pathLst>
              <a:path w="1663064" h="3593465">
                <a:moveTo>
                  <a:pt x="1663000" y="0"/>
                </a:moveTo>
                <a:lnTo>
                  <a:pt x="0" y="0"/>
                </a:lnTo>
                <a:lnTo>
                  <a:pt x="0" y="2592147"/>
                </a:lnTo>
                <a:lnTo>
                  <a:pt x="36360" y="2658046"/>
                </a:lnTo>
                <a:lnTo>
                  <a:pt x="60637" y="2698640"/>
                </a:lnTo>
                <a:lnTo>
                  <a:pt x="85904" y="2738562"/>
                </a:lnTo>
                <a:lnTo>
                  <a:pt x="112143" y="2777796"/>
                </a:lnTo>
                <a:lnTo>
                  <a:pt x="139339" y="2816325"/>
                </a:lnTo>
                <a:lnTo>
                  <a:pt x="167475" y="2854132"/>
                </a:lnTo>
                <a:lnTo>
                  <a:pt x="196532" y="2891200"/>
                </a:lnTo>
                <a:lnTo>
                  <a:pt x="226495" y="2927513"/>
                </a:lnTo>
                <a:lnTo>
                  <a:pt x="257346" y="2963054"/>
                </a:lnTo>
                <a:lnTo>
                  <a:pt x="289069" y="2997806"/>
                </a:lnTo>
                <a:lnTo>
                  <a:pt x="321646" y="3031753"/>
                </a:lnTo>
                <a:lnTo>
                  <a:pt x="355061" y="3064877"/>
                </a:lnTo>
                <a:lnTo>
                  <a:pt x="389297" y="3097162"/>
                </a:lnTo>
                <a:lnTo>
                  <a:pt x="424336" y="3128591"/>
                </a:lnTo>
                <a:lnTo>
                  <a:pt x="460163" y="3159148"/>
                </a:lnTo>
                <a:lnTo>
                  <a:pt x="496759" y="3188815"/>
                </a:lnTo>
                <a:lnTo>
                  <a:pt x="534108" y="3217577"/>
                </a:lnTo>
                <a:lnTo>
                  <a:pt x="572193" y="3245415"/>
                </a:lnTo>
                <a:lnTo>
                  <a:pt x="610997" y="3272314"/>
                </a:lnTo>
                <a:lnTo>
                  <a:pt x="650503" y="3298257"/>
                </a:lnTo>
                <a:lnTo>
                  <a:pt x="690694" y="3323226"/>
                </a:lnTo>
                <a:lnTo>
                  <a:pt x="731554" y="3347206"/>
                </a:lnTo>
                <a:lnTo>
                  <a:pt x="773065" y="3370179"/>
                </a:lnTo>
                <a:lnTo>
                  <a:pt x="815210" y="3392129"/>
                </a:lnTo>
                <a:lnTo>
                  <a:pt x="857973" y="3413039"/>
                </a:lnTo>
                <a:lnTo>
                  <a:pt x="901337" y="3432893"/>
                </a:lnTo>
                <a:lnTo>
                  <a:pt x="945284" y="3451673"/>
                </a:lnTo>
                <a:lnTo>
                  <a:pt x="989797" y="3469362"/>
                </a:lnTo>
                <a:lnTo>
                  <a:pt x="1034860" y="3485945"/>
                </a:lnTo>
                <a:lnTo>
                  <a:pt x="1080456" y="3501403"/>
                </a:lnTo>
                <a:lnTo>
                  <a:pt x="1126568" y="3515722"/>
                </a:lnTo>
                <a:lnTo>
                  <a:pt x="1173179" y="3528883"/>
                </a:lnTo>
                <a:lnTo>
                  <a:pt x="1220272" y="3540870"/>
                </a:lnTo>
                <a:lnTo>
                  <a:pt x="1267829" y="3551666"/>
                </a:lnTo>
                <a:lnTo>
                  <a:pt x="1315835" y="3561255"/>
                </a:lnTo>
                <a:lnTo>
                  <a:pt x="1364272" y="3569620"/>
                </a:lnTo>
                <a:lnTo>
                  <a:pt x="1413123" y="3576744"/>
                </a:lnTo>
                <a:lnTo>
                  <a:pt x="1462372" y="3582610"/>
                </a:lnTo>
                <a:lnTo>
                  <a:pt x="1512001" y="3587202"/>
                </a:lnTo>
                <a:lnTo>
                  <a:pt x="1561993" y="3590502"/>
                </a:lnTo>
                <a:lnTo>
                  <a:pt x="1612332" y="3592495"/>
                </a:lnTo>
                <a:lnTo>
                  <a:pt x="1663000" y="3593163"/>
                </a:lnTo>
                <a:lnTo>
                  <a:pt x="1663000" y="0"/>
                </a:lnTo>
                <a:close/>
              </a:path>
            </a:pathLst>
          </a:custGeom>
          <a:solidFill>
            <a:srgbClr val="B123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524163" y="0"/>
            <a:ext cx="1668145" cy="3593465"/>
          </a:xfrm>
          <a:custGeom>
            <a:avLst/>
            <a:gdLst/>
            <a:ahLst/>
            <a:cxnLst/>
            <a:rect l="l" t="t" r="r" b="b"/>
            <a:pathLst>
              <a:path w="1668145" h="3593465">
                <a:moveTo>
                  <a:pt x="1667837" y="0"/>
                </a:moveTo>
                <a:lnTo>
                  <a:pt x="0" y="0"/>
                </a:lnTo>
                <a:lnTo>
                  <a:pt x="0" y="3593163"/>
                </a:lnTo>
                <a:lnTo>
                  <a:pt x="50663" y="3592495"/>
                </a:lnTo>
                <a:lnTo>
                  <a:pt x="100998" y="3590502"/>
                </a:lnTo>
                <a:lnTo>
                  <a:pt x="150986" y="3587202"/>
                </a:lnTo>
                <a:lnTo>
                  <a:pt x="200611" y="3582610"/>
                </a:lnTo>
                <a:lnTo>
                  <a:pt x="249856" y="3576744"/>
                </a:lnTo>
                <a:lnTo>
                  <a:pt x="298704" y="3569620"/>
                </a:lnTo>
                <a:lnTo>
                  <a:pt x="347138" y="3561255"/>
                </a:lnTo>
                <a:lnTo>
                  <a:pt x="395141" y="3551666"/>
                </a:lnTo>
                <a:lnTo>
                  <a:pt x="442696" y="3540870"/>
                </a:lnTo>
                <a:lnTo>
                  <a:pt x="489787" y="3528883"/>
                </a:lnTo>
                <a:lnTo>
                  <a:pt x="536396" y="3515722"/>
                </a:lnTo>
                <a:lnTo>
                  <a:pt x="582505" y="3501403"/>
                </a:lnTo>
                <a:lnTo>
                  <a:pt x="628100" y="3485945"/>
                </a:lnTo>
                <a:lnTo>
                  <a:pt x="673161" y="3469362"/>
                </a:lnTo>
                <a:lnTo>
                  <a:pt x="717674" y="3451673"/>
                </a:lnTo>
                <a:lnTo>
                  <a:pt x="761619" y="3432893"/>
                </a:lnTo>
                <a:lnTo>
                  <a:pt x="804981" y="3413039"/>
                </a:lnTo>
                <a:lnTo>
                  <a:pt x="847743" y="3392129"/>
                </a:lnTo>
                <a:lnTo>
                  <a:pt x="889888" y="3370179"/>
                </a:lnTo>
                <a:lnTo>
                  <a:pt x="931398" y="3347206"/>
                </a:lnTo>
                <a:lnTo>
                  <a:pt x="972257" y="3323226"/>
                </a:lnTo>
                <a:lnTo>
                  <a:pt x="1012448" y="3298257"/>
                </a:lnTo>
                <a:lnTo>
                  <a:pt x="1051953" y="3272314"/>
                </a:lnTo>
                <a:lnTo>
                  <a:pt x="1090757" y="3245415"/>
                </a:lnTo>
                <a:lnTo>
                  <a:pt x="1128841" y="3217577"/>
                </a:lnTo>
                <a:lnTo>
                  <a:pt x="1166190" y="3188815"/>
                </a:lnTo>
                <a:lnTo>
                  <a:pt x="1202786" y="3159148"/>
                </a:lnTo>
                <a:lnTo>
                  <a:pt x="1238612" y="3128591"/>
                </a:lnTo>
                <a:lnTo>
                  <a:pt x="1273651" y="3097162"/>
                </a:lnTo>
                <a:lnTo>
                  <a:pt x="1307886" y="3064877"/>
                </a:lnTo>
                <a:lnTo>
                  <a:pt x="1341300" y="3031753"/>
                </a:lnTo>
                <a:lnTo>
                  <a:pt x="1373877" y="2997806"/>
                </a:lnTo>
                <a:lnTo>
                  <a:pt x="1405599" y="2963054"/>
                </a:lnTo>
                <a:lnTo>
                  <a:pt x="1436450" y="2927513"/>
                </a:lnTo>
                <a:lnTo>
                  <a:pt x="1466412" y="2891200"/>
                </a:lnTo>
                <a:lnTo>
                  <a:pt x="1495469" y="2854132"/>
                </a:lnTo>
                <a:lnTo>
                  <a:pt x="1523604" y="2816325"/>
                </a:lnTo>
                <a:lnTo>
                  <a:pt x="1550799" y="2777796"/>
                </a:lnTo>
                <a:lnTo>
                  <a:pt x="1577037" y="2738562"/>
                </a:lnTo>
                <a:lnTo>
                  <a:pt x="1602303" y="2698640"/>
                </a:lnTo>
                <a:lnTo>
                  <a:pt x="1626578" y="2658046"/>
                </a:lnTo>
                <a:lnTo>
                  <a:pt x="1649847" y="2616797"/>
                </a:lnTo>
                <a:lnTo>
                  <a:pt x="1667837" y="2582921"/>
                </a:lnTo>
                <a:lnTo>
                  <a:pt x="1667837" y="0"/>
                </a:lnTo>
                <a:close/>
              </a:path>
            </a:pathLst>
          </a:custGeom>
          <a:solidFill>
            <a:srgbClr val="B123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374829" y="0"/>
            <a:ext cx="1878964" cy="3593465"/>
          </a:xfrm>
          <a:custGeom>
            <a:avLst/>
            <a:gdLst/>
            <a:ahLst/>
            <a:cxnLst/>
            <a:rect l="l" t="t" r="r" b="b"/>
            <a:pathLst>
              <a:path w="1878965" h="3593465">
                <a:moveTo>
                  <a:pt x="1878670" y="0"/>
                </a:moveTo>
                <a:lnTo>
                  <a:pt x="0" y="0"/>
                </a:lnTo>
                <a:lnTo>
                  <a:pt x="0" y="1722278"/>
                </a:lnTo>
                <a:lnTo>
                  <a:pt x="613" y="1770547"/>
                </a:lnTo>
                <a:lnTo>
                  <a:pt x="2445" y="1818515"/>
                </a:lnTo>
                <a:lnTo>
                  <a:pt x="5480" y="1866170"/>
                </a:lnTo>
                <a:lnTo>
                  <a:pt x="9704" y="1913494"/>
                </a:lnTo>
                <a:lnTo>
                  <a:pt x="15101" y="1960474"/>
                </a:lnTo>
                <a:lnTo>
                  <a:pt x="21656" y="2007096"/>
                </a:lnTo>
                <a:lnTo>
                  <a:pt x="29356" y="2053344"/>
                </a:lnTo>
                <a:lnTo>
                  <a:pt x="38185" y="2099203"/>
                </a:lnTo>
                <a:lnTo>
                  <a:pt x="48129" y="2144659"/>
                </a:lnTo>
                <a:lnTo>
                  <a:pt x="59172" y="2189698"/>
                </a:lnTo>
                <a:lnTo>
                  <a:pt x="71300" y="2234304"/>
                </a:lnTo>
                <a:lnTo>
                  <a:pt x="84498" y="2278462"/>
                </a:lnTo>
                <a:lnTo>
                  <a:pt x="98751" y="2322159"/>
                </a:lnTo>
                <a:lnTo>
                  <a:pt x="114045" y="2365379"/>
                </a:lnTo>
                <a:lnTo>
                  <a:pt x="130365" y="2408107"/>
                </a:lnTo>
                <a:lnTo>
                  <a:pt x="147695" y="2450329"/>
                </a:lnTo>
                <a:lnTo>
                  <a:pt x="166022" y="2492031"/>
                </a:lnTo>
                <a:lnTo>
                  <a:pt x="185330" y="2533197"/>
                </a:lnTo>
                <a:lnTo>
                  <a:pt x="205605" y="2573812"/>
                </a:lnTo>
                <a:lnTo>
                  <a:pt x="226832" y="2613862"/>
                </a:lnTo>
                <a:lnTo>
                  <a:pt x="248995" y="2653333"/>
                </a:lnTo>
                <a:lnTo>
                  <a:pt x="272081" y="2692209"/>
                </a:lnTo>
                <a:lnTo>
                  <a:pt x="296075" y="2730476"/>
                </a:lnTo>
                <a:lnTo>
                  <a:pt x="320961" y="2768119"/>
                </a:lnTo>
                <a:lnTo>
                  <a:pt x="346725" y="2805123"/>
                </a:lnTo>
                <a:lnTo>
                  <a:pt x="373352" y="2841474"/>
                </a:lnTo>
                <a:lnTo>
                  <a:pt x="400827" y="2877156"/>
                </a:lnTo>
                <a:lnTo>
                  <a:pt x="429136" y="2912156"/>
                </a:lnTo>
                <a:lnTo>
                  <a:pt x="458263" y="2946458"/>
                </a:lnTo>
                <a:lnTo>
                  <a:pt x="488195" y="2980048"/>
                </a:lnTo>
                <a:lnTo>
                  <a:pt x="518916" y="3012911"/>
                </a:lnTo>
                <a:lnTo>
                  <a:pt x="550411" y="3045032"/>
                </a:lnTo>
                <a:lnTo>
                  <a:pt x="582666" y="3076397"/>
                </a:lnTo>
                <a:lnTo>
                  <a:pt x="615666" y="3106990"/>
                </a:lnTo>
                <a:lnTo>
                  <a:pt x="649395" y="3136798"/>
                </a:lnTo>
                <a:lnTo>
                  <a:pt x="683840" y="3165805"/>
                </a:lnTo>
                <a:lnTo>
                  <a:pt x="718986" y="3193996"/>
                </a:lnTo>
                <a:lnTo>
                  <a:pt x="754817" y="3221358"/>
                </a:lnTo>
                <a:lnTo>
                  <a:pt x="791319" y="3247875"/>
                </a:lnTo>
                <a:lnTo>
                  <a:pt x="828477" y="3273532"/>
                </a:lnTo>
                <a:lnTo>
                  <a:pt x="866276" y="3298315"/>
                </a:lnTo>
                <a:lnTo>
                  <a:pt x="904703" y="3322208"/>
                </a:lnTo>
                <a:lnTo>
                  <a:pt x="943740" y="3345199"/>
                </a:lnTo>
                <a:lnTo>
                  <a:pt x="983375" y="3367270"/>
                </a:lnTo>
                <a:lnTo>
                  <a:pt x="1023592" y="3388409"/>
                </a:lnTo>
                <a:lnTo>
                  <a:pt x="1064377" y="3408600"/>
                </a:lnTo>
                <a:lnTo>
                  <a:pt x="1105714" y="3427828"/>
                </a:lnTo>
                <a:lnTo>
                  <a:pt x="1147589" y="3446079"/>
                </a:lnTo>
                <a:lnTo>
                  <a:pt x="1189987" y="3463338"/>
                </a:lnTo>
                <a:lnTo>
                  <a:pt x="1232893" y="3479590"/>
                </a:lnTo>
                <a:lnTo>
                  <a:pt x="1276293" y="3494820"/>
                </a:lnTo>
                <a:lnTo>
                  <a:pt x="1320171" y="3509015"/>
                </a:lnTo>
                <a:lnTo>
                  <a:pt x="1364513" y="3522158"/>
                </a:lnTo>
                <a:lnTo>
                  <a:pt x="1409305" y="3534236"/>
                </a:lnTo>
                <a:lnTo>
                  <a:pt x="1454531" y="3545233"/>
                </a:lnTo>
                <a:lnTo>
                  <a:pt x="1500176" y="3555135"/>
                </a:lnTo>
                <a:lnTo>
                  <a:pt x="1546226" y="3563928"/>
                </a:lnTo>
                <a:lnTo>
                  <a:pt x="1592667" y="3571596"/>
                </a:lnTo>
                <a:lnTo>
                  <a:pt x="1639482" y="3578124"/>
                </a:lnTo>
                <a:lnTo>
                  <a:pt x="1686658" y="3583499"/>
                </a:lnTo>
                <a:lnTo>
                  <a:pt x="1734180" y="3587705"/>
                </a:lnTo>
                <a:lnTo>
                  <a:pt x="1782032" y="3590727"/>
                </a:lnTo>
                <a:lnTo>
                  <a:pt x="1830200" y="3592551"/>
                </a:lnTo>
                <a:lnTo>
                  <a:pt x="1878670" y="3593163"/>
                </a:lnTo>
                <a:lnTo>
                  <a:pt x="1878670" y="0"/>
                </a:lnTo>
                <a:close/>
              </a:path>
            </a:pathLst>
          </a:custGeom>
          <a:solidFill>
            <a:srgbClr val="B1232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5023739" y="0"/>
            <a:ext cx="3094355" cy="3593465"/>
            <a:chOff x="5023739" y="0"/>
            <a:chExt cx="3094355" cy="3593465"/>
          </a:xfrm>
        </p:grpSpPr>
        <p:sp>
          <p:nvSpPr>
            <p:cNvPr id="9" name="object 9"/>
            <p:cNvSpPr/>
            <p:nvPr/>
          </p:nvSpPr>
          <p:spPr>
            <a:xfrm>
              <a:off x="6239083" y="0"/>
              <a:ext cx="1878964" cy="3593465"/>
            </a:xfrm>
            <a:custGeom>
              <a:avLst/>
              <a:gdLst/>
              <a:ahLst/>
              <a:cxnLst/>
              <a:rect l="l" t="t" r="r" b="b"/>
              <a:pathLst>
                <a:path w="1878965" h="3593465">
                  <a:moveTo>
                    <a:pt x="1878670" y="0"/>
                  </a:moveTo>
                  <a:lnTo>
                    <a:pt x="0" y="0"/>
                  </a:lnTo>
                  <a:lnTo>
                    <a:pt x="0" y="1722278"/>
                  </a:lnTo>
                  <a:lnTo>
                    <a:pt x="613" y="1770547"/>
                  </a:lnTo>
                  <a:lnTo>
                    <a:pt x="2445" y="1818515"/>
                  </a:lnTo>
                  <a:lnTo>
                    <a:pt x="5480" y="1866170"/>
                  </a:lnTo>
                  <a:lnTo>
                    <a:pt x="9704" y="1913494"/>
                  </a:lnTo>
                  <a:lnTo>
                    <a:pt x="15101" y="1960474"/>
                  </a:lnTo>
                  <a:lnTo>
                    <a:pt x="21656" y="2007096"/>
                  </a:lnTo>
                  <a:lnTo>
                    <a:pt x="29356" y="2053344"/>
                  </a:lnTo>
                  <a:lnTo>
                    <a:pt x="38185" y="2099203"/>
                  </a:lnTo>
                  <a:lnTo>
                    <a:pt x="48129" y="2144659"/>
                  </a:lnTo>
                  <a:lnTo>
                    <a:pt x="59172" y="2189698"/>
                  </a:lnTo>
                  <a:lnTo>
                    <a:pt x="71300" y="2234304"/>
                  </a:lnTo>
                  <a:lnTo>
                    <a:pt x="84498" y="2278462"/>
                  </a:lnTo>
                  <a:lnTo>
                    <a:pt x="98751" y="2322159"/>
                  </a:lnTo>
                  <a:lnTo>
                    <a:pt x="114045" y="2365379"/>
                  </a:lnTo>
                  <a:lnTo>
                    <a:pt x="130365" y="2408107"/>
                  </a:lnTo>
                  <a:lnTo>
                    <a:pt x="147695" y="2450329"/>
                  </a:lnTo>
                  <a:lnTo>
                    <a:pt x="166022" y="2492031"/>
                  </a:lnTo>
                  <a:lnTo>
                    <a:pt x="185330" y="2533197"/>
                  </a:lnTo>
                  <a:lnTo>
                    <a:pt x="205605" y="2573812"/>
                  </a:lnTo>
                  <a:lnTo>
                    <a:pt x="226832" y="2613862"/>
                  </a:lnTo>
                  <a:lnTo>
                    <a:pt x="248995" y="2653333"/>
                  </a:lnTo>
                  <a:lnTo>
                    <a:pt x="272081" y="2692209"/>
                  </a:lnTo>
                  <a:lnTo>
                    <a:pt x="296075" y="2730476"/>
                  </a:lnTo>
                  <a:lnTo>
                    <a:pt x="320961" y="2768119"/>
                  </a:lnTo>
                  <a:lnTo>
                    <a:pt x="346725" y="2805123"/>
                  </a:lnTo>
                  <a:lnTo>
                    <a:pt x="373352" y="2841474"/>
                  </a:lnTo>
                  <a:lnTo>
                    <a:pt x="400827" y="2877156"/>
                  </a:lnTo>
                  <a:lnTo>
                    <a:pt x="429136" y="2912156"/>
                  </a:lnTo>
                  <a:lnTo>
                    <a:pt x="458263" y="2946458"/>
                  </a:lnTo>
                  <a:lnTo>
                    <a:pt x="488195" y="2980048"/>
                  </a:lnTo>
                  <a:lnTo>
                    <a:pt x="518916" y="3012911"/>
                  </a:lnTo>
                  <a:lnTo>
                    <a:pt x="550411" y="3045032"/>
                  </a:lnTo>
                  <a:lnTo>
                    <a:pt x="582666" y="3076397"/>
                  </a:lnTo>
                  <a:lnTo>
                    <a:pt x="615666" y="3106990"/>
                  </a:lnTo>
                  <a:lnTo>
                    <a:pt x="649395" y="3136798"/>
                  </a:lnTo>
                  <a:lnTo>
                    <a:pt x="683840" y="3165805"/>
                  </a:lnTo>
                  <a:lnTo>
                    <a:pt x="718986" y="3193996"/>
                  </a:lnTo>
                  <a:lnTo>
                    <a:pt x="754817" y="3221358"/>
                  </a:lnTo>
                  <a:lnTo>
                    <a:pt x="791319" y="3247875"/>
                  </a:lnTo>
                  <a:lnTo>
                    <a:pt x="828477" y="3273532"/>
                  </a:lnTo>
                  <a:lnTo>
                    <a:pt x="866276" y="3298315"/>
                  </a:lnTo>
                  <a:lnTo>
                    <a:pt x="904703" y="3322208"/>
                  </a:lnTo>
                  <a:lnTo>
                    <a:pt x="943740" y="3345199"/>
                  </a:lnTo>
                  <a:lnTo>
                    <a:pt x="983375" y="3367270"/>
                  </a:lnTo>
                  <a:lnTo>
                    <a:pt x="1023592" y="3388409"/>
                  </a:lnTo>
                  <a:lnTo>
                    <a:pt x="1064377" y="3408600"/>
                  </a:lnTo>
                  <a:lnTo>
                    <a:pt x="1105714" y="3427828"/>
                  </a:lnTo>
                  <a:lnTo>
                    <a:pt x="1147589" y="3446079"/>
                  </a:lnTo>
                  <a:lnTo>
                    <a:pt x="1189987" y="3463338"/>
                  </a:lnTo>
                  <a:lnTo>
                    <a:pt x="1232893" y="3479590"/>
                  </a:lnTo>
                  <a:lnTo>
                    <a:pt x="1276293" y="3494820"/>
                  </a:lnTo>
                  <a:lnTo>
                    <a:pt x="1320171" y="3509015"/>
                  </a:lnTo>
                  <a:lnTo>
                    <a:pt x="1364513" y="3522158"/>
                  </a:lnTo>
                  <a:lnTo>
                    <a:pt x="1409305" y="3534236"/>
                  </a:lnTo>
                  <a:lnTo>
                    <a:pt x="1454531" y="3545233"/>
                  </a:lnTo>
                  <a:lnTo>
                    <a:pt x="1500176" y="3555135"/>
                  </a:lnTo>
                  <a:lnTo>
                    <a:pt x="1546226" y="3563928"/>
                  </a:lnTo>
                  <a:lnTo>
                    <a:pt x="1592667" y="3571596"/>
                  </a:lnTo>
                  <a:lnTo>
                    <a:pt x="1639482" y="3578124"/>
                  </a:lnTo>
                  <a:lnTo>
                    <a:pt x="1686658" y="3583499"/>
                  </a:lnTo>
                  <a:lnTo>
                    <a:pt x="1734180" y="3587705"/>
                  </a:lnTo>
                  <a:lnTo>
                    <a:pt x="1782032" y="3590727"/>
                  </a:lnTo>
                  <a:lnTo>
                    <a:pt x="1830200" y="3592551"/>
                  </a:lnTo>
                  <a:lnTo>
                    <a:pt x="1878670" y="3593163"/>
                  </a:lnTo>
                  <a:lnTo>
                    <a:pt x="1878670" y="0"/>
                  </a:lnTo>
                  <a:close/>
                </a:path>
              </a:pathLst>
            </a:custGeom>
            <a:solidFill>
              <a:srgbClr val="B123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23739" y="844003"/>
              <a:ext cx="2144649" cy="1266736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5664504"/>
            <a:ext cx="12191999" cy="903706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 algn="ctr">
              <a:lnSpc>
                <a:spcPct val="100000"/>
              </a:lnSpc>
              <a:spcBef>
                <a:spcPts val="100"/>
              </a:spcBef>
            </a:pPr>
            <a:r>
              <a:rPr lang="ar-EG" sz="48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4800" b="1" dirty="0">
                <a:solidFill>
                  <a:srgbClr val="FFFFFF"/>
                </a:solidFill>
                <a:latin typeface="Arial"/>
                <a:cs typeface="Arial"/>
              </a:rPr>
              <a:t>Fine Tuning and RAG</a:t>
            </a:r>
            <a:endParaRPr sz="4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7341" y="101358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19">
                <a:moveTo>
                  <a:pt x="0" y="0"/>
                </a:moveTo>
                <a:lnTo>
                  <a:pt x="10516806" y="7112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045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Foundation</a:t>
            </a:r>
            <a:r>
              <a:rPr sz="2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24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2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spc="-20" dirty="0">
                <a:solidFill>
                  <a:srgbClr val="333333"/>
                </a:solidFill>
                <a:latin typeface="Segoe UI"/>
                <a:cs typeface="Segoe UI"/>
              </a:rPr>
              <a:t>Fine-</a:t>
            </a:r>
            <a:r>
              <a:rPr sz="2400" spc="-10" dirty="0">
                <a:solidFill>
                  <a:srgbClr val="333333"/>
                </a:solidFill>
                <a:latin typeface="Segoe UI"/>
                <a:cs typeface="Segoe UI"/>
              </a:rPr>
              <a:t>Tuning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pc="-10" dirty="0"/>
              <a:t>General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98956" y="983589"/>
            <a:ext cx="10320020" cy="454723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b="1" dirty="0">
                <a:solidFill>
                  <a:srgbClr val="333333"/>
                </a:solidFill>
                <a:latin typeface="Segoe UI"/>
                <a:cs typeface="Segoe UI"/>
              </a:rPr>
              <a:t>What</a:t>
            </a:r>
            <a:r>
              <a:rPr sz="1400" b="1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Segoe UI"/>
                <a:cs typeface="Segoe UI"/>
              </a:rPr>
              <a:t>are</a:t>
            </a:r>
            <a:r>
              <a:rPr sz="1400" b="1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Segoe UI"/>
                <a:cs typeface="Segoe UI"/>
              </a:rPr>
              <a:t>Foundation</a:t>
            </a:r>
            <a:r>
              <a:rPr sz="1400" b="1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Segoe UI"/>
                <a:cs typeface="Segoe UI"/>
              </a:rPr>
              <a:t>Models?</a:t>
            </a:r>
            <a:endParaRPr sz="1400">
              <a:latin typeface="Segoe UI"/>
              <a:cs typeface="Segoe UI"/>
            </a:endParaRPr>
          </a:p>
          <a:p>
            <a:pPr marL="12700" marR="146685">
              <a:lnSpc>
                <a:spcPct val="150000"/>
              </a:lnSpc>
              <a:spcBef>
                <a:spcPts val="5"/>
              </a:spcBef>
            </a:pP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Foundation</a:t>
            </a:r>
            <a:r>
              <a:rPr sz="14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are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large-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scale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pre-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trained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vast,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diverse</a:t>
            </a:r>
            <a:r>
              <a:rPr sz="14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datasets.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These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are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designed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be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highly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generalizable,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providing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base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wide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range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downstream</a:t>
            </a:r>
            <a:r>
              <a:rPr sz="14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tasks.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Examples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foundation</a:t>
            </a:r>
            <a:r>
              <a:rPr sz="14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include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GPT-4,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BERT,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and 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CLIP.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These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are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versatile,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capable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handling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various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types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such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text,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images,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audio.</a:t>
            </a:r>
            <a:endParaRPr sz="14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495"/>
              </a:spcBef>
            </a:pP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1400" b="1" spc="-10" dirty="0">
                <a:solidFill>
                  <a:srgbClr val="333333"/>
                </a:solidFill>
                <a:latin typeface="Segoe UI"/>
                <a:cs typeface="Segoe UI"/>
              </a:rPr>
              <a:t>Fine-Tuning</a:t>
            </a:r>
            <a:endParaRPr sz="1400">
              <a:latin typeface="Segoe UI"/>
              <a:cs typeface="Segoe UI"/>
            </a:endParaRPr>
          </a:p>
          <a:p>
            <a:pPr marL="12700" marR="5080">
              <a:lnSpc>
                <a:spcPct val="150000"/>
              </a:lnSpc>
              <a:spcBef>
                <a:spcPts val="5"/>
              </a:spcBef>
            </a:pP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Fine-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tuning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refers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process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customizing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pre-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trained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foundation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specific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task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by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training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additional, domain-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specific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data.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This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approach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allows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organizations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adapt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foundation</a:t>
            </a:r>
            <a:r>
              <a:rPr sz="14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their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needs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without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need</a:t>
            </a:r>
            <a:r>
              <a:rPr sz="14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extensive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retraining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from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scratch.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example,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general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language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like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GPT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be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fine-tuned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better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handle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finance-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related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text,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resulting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like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FinBERT.</a:t>
            </a:r>
            <a:endParaRPr sz="14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sz="1400">
              <a:latin typeface="Segoe UI"/>
              <a:cs typeface="Segoe UI"/>
            </a:endParaRPr>
          </a:p>
          <a:p>
            <a:pPr marL="12700">
              <a:lnSpc>
                <a:spcPts val="1595"/>
              </a:lnSpc>
            </a:pPr>
            <a:r>
              <a:rPr sz="1400" b="1" dirty="0">
                <a:solidFill>
                  <a:srgbClr val="333333"/>
                </a:solidFill>
                <a:latin typeface="Segoe UI"/>
                <a:cs typeface="Segoe UI"/>
              </a:rPr>
              <a:t>Benefits</a:t>
            </a:r>
            <a:r>
              <a:rPr sz="1400" b="1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400" b="1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Segoe UI"/>
                <a:cs typeface="Segoe UI"/>
              </a:rPr>
              <a:t>Fine-Tuning</a:t>
            </a:r>
            <a:endParaRPr sz="1400">
              <a:latin typeface="Segoe UI"/>
              <a:cs typeface="Segoe UI"/>
            </a:endParaRPr>
          </a:p>
          <a:p>
            <a:pPr marL="299085" marR="116839" indent="-287020">
              <a:lnSpc>
                <a:spcPts val="1510"/>
              </a:lnSpc>
              <a:spcBef>
                <a:spcPts val="110"/>
              </a:spcBef>
              <a:buFont typeface="Arial"/>
              <a:buChar char="•"/>
              <a:tabLst>
                <a:tab pos="299085" algn="l"/>
              </a:tabLst>
            </a:pPr>
            <a:r>
              <a:rPr sz="1400" b="1" spc="-10" dirty="0">
                <a:solidFill>
                  <a:srgbClr val="333333"/>
                </a:solidFill>
                <a:latin typeface="Segoe UI"/>
                <a:cs typeface="Segoe UI"/>
              </a:rPr>
              <a:t>Customization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sz="14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Fine-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tuning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enhances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model’s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performance</a:t>
            </a:r>
            <a:r>
              <a:rPr sz="14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specific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applications,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making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more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relevant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niche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use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cases.</a:t>
            </a:r>
            <a:endParaRPr sz="1400">
              <a:latin typeface="Segoe UI"/>
              <a:cs typeface="Segoe UI"/>
            </a:endParaRPr>
          </a:p>
          <a:p>
            <a:pPr marL="299085" indent="-286385">
              <a:lnSpc>
                <a:spcPts val="1410"/>
              </a:lnSpc>
              <a:buFont typeface="Arial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333333"/>
                </a:solidFill>
                <a:latin typeface="Segoe UI"/>
                <a:cs typeface="Segoe UI"/>
              </a:rPr>
              <a:t>Efficiency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requires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less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computational</a:t>
            </a:r>
            <a:r>
              <a:rPr sz="14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power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compared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training</a:t>
            </a:r>
            <a:r>
              <a:rPr sz="14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from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scratch.</a:t>
            </a:r>
            <a:endParaRPr sz="1400">
              <a:latin typeface="Segoe UI"/>
              <a:cs typeface="Segoe UI"/>
            </a:endParaRPr>
          </a:p>
          <a:p>
            <a:pPr marL="299085" indent="-286385">
              <a:lnSpc>
                <a:spcPts val="1595"/>
              </a:lnSpc>
              <a:buFont typeface="Arial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333333"/>
                </a:solidFill>
                <a:latin typeface="Segoe UI"/>
                <a:cs typeface="Segoe UI"/>
              </a:rPr>
              <a:t>Scalability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Fine-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tuned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be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deployed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across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various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domains,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from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healthcare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finance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beyond.</a:t>
            </a:r>
            <a:endParaRPr sz="14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7341" y="101358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19">
                <a:moveTo>
                  <a:pt x="0" y="0"/>
                </a:moveTo>
                <a:lnTo>
                  <a:pt x="10516806" y="7112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045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solidFill>
                  <a:srgbClr val="333333"/>
                </a:solidFill>
                <a:latin typeface="Segoe UI"/>
                <a:cs typeface="Segoe UI"/>
              </a:rPr>
              <a:t>Fine-Tuning</a:t>
            </a:r>
            <a:r>
              <a:rPr sz="2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–</a:t>
            </a:r>
            <a:r>
              <a:rPr sz="24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Getting</a:t>
            </a:r>
            <a:r>
              <a:rPr sz="24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Segoe UI"/>
                <a:cs typeface="Segoe UI"/>
              </a:rPr>
              <a:t>started</a:t>
            </a:r>
            <a:endParaRPr sz="240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3165" y="1251737"/>
            <a:ext cx="9542250" cy="467340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98956" y="6041542"/>
            <a:ext cx="6746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10" dirty="0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3"/>
              </a:rPr>
              <a:t>https://platform.openai.com/docs/api-reference/fine-tuning/create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pc="-10" dirty="0"/>
              <a:t>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7341" y="101358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19">
                <a:moveTo>
                  <a:pt x="0" y="0"/>
                </a:moveTo>
                <a:lnTo>
                  <a:pt x="10516806" y="7112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045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333333"/>
                </a:solidFill>
                <a:latin typeface="Segoe UI"/>
                <a:cs typeface="Segoe UI"/>
              </a:rPr>
              <a:t>Retrieval-</a:t>
            </a: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Augmented</a:t>
            </a:r>
            <a:r>
              <a:rPr sz="2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Generation</a:t>
            </a:r>
            <a:r>
              <a:rPr sz="2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Segoe UI"/>
                <a:cs typeface="Segoe UI"/>
              </a:rPr>
              <a:t>(RAG)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pc="-10" dirty="0"/>
              <a:t>General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98956" y="983589"/>
            <a:ext cx="10316210" cy="482790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b="1" dirty="0">
                <a:solidFill>
                  <a:srgbClr val="333333"/>
                </a:solidFill>
                <a:latin typeface="Segoe UI"/>
                <a:cs typeface="Segoe UI"/>
              </a:rPr>
              <a:t>What</a:t>
            </a:r>
            <a:r>
              <a:rPr sz="1400" b="1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400" b="1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spc="-20" dirty="0">
                <a:solidFill>
                  <a:srgbClr val="333333"/>
                </a:solidFill>
                <a:latin typeface="Segoe UI"/>
                <a:cs typeface="Segoe UI"/>
              </a:rPr>
              <a:t>RAG?</a:t>
            </a:r>
            <a:endParaRPr sz="1400">
              <a:latin typeface="Segoe UI"/>
              <a:cs typeface="Segoe UI"/>
            </a:endParaRPr>
          </a:p>
          <a:p>
            <a:pPr marL="12700" marR="172085">
              <a:lnSpc>
                <a:spcPct val="150000"/>
              </a:lnSpc>
              <a:spcBef>
                <a:spcPts val="5"/>
              </a:spcBef>
            </a:pP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Retrieval-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Augmented</a:t>
            </a:r>
            <a:r>
              <a:rPr sz="14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Generation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(RAG)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enhances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language</a:t>
            </a:r>
            <a:r>
              <a:rPr sz="14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model's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capabilities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by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allowing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access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external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sources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in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real-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time.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works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by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retrieving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relevant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information</a:t>
            </a:r>
            <a:r>
              <a:rPr sz="14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from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databases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other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sources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combining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user's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query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to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generate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more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contextually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accurate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up-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to-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date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response.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This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particularly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useful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when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dealing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constantly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evolving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fields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like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healthcare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finance,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where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accessing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latest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information</a:t>
            </a:r>
            <a:r>
              <a:rPr sz="14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crucial.</a:t>
            </a:r>
            <a:endParaRPr sz="14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500"/>
              </a:spcBef>
            </a:pP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333333"/>
                </a:solidFill>
                <a:latin typeface="Segoe UI"/>
                <a:cs typeface="Segoe UI"/>
              </a:rPr>
              <a:t>RAG</a:t>
            </a:r>
            <a:r>
              <a:rPr sz="1400" b="1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Segoe UI"/>
                <a:cs typeface="Segoe UI"/>
              </a:rPr>
              <a:t>VS.</a:t>
            </a:r>
            <a:r>
              <a:rPr sz="1400" b="1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Segoe UI"/>
                <a:cs typeface="Segoe UI"/>
              </a:rPr>
              <a:t>Fine</a:t>
            </a:r>
            <a:r>
              <a:rPr sz="1400" b="1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Segoe UI"/>
                <a:cs typeface="Segoe UI"/>
              </a:rPr>
              <a:t>tuning</a:t>
            </a: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RAG</a:t>
            </a:r>
            <a:r>
              <a:rPr sz="14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differs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from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fine-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tuning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primarily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how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each</a:t>
            </a:r>
            <a:r>
              <a:rPr sz="14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method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handles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information:</a:t>
            </a:r>
            <a:endParaRPr sz="1400">
              <a:latin typeface="Segoe UI"/>
              <a:cs typeface="Segoe UI"/>
            </a:endParaRPr>
          </a:p>
          <a:p>
            <a:pPr marL="183515" marR="130810" indent="-171450">
              <a:lnSpc>
                <a:spcPct val="150000"/>
              </a:lnSpc>
              <a:buFont typeface="Arial"/>
              <a:buChar char="•"/>
              <a:tabLst>
                <a:tab pos="184785" algn="l"/>
              </a:tabLst>
            </a:pPr>
            <a:r>
              <a:rPr sz="1400" b="1" dirty="0">
                <a:solidFill>
                  <a:srgbClr val="333333"/>
                </a:solidFill>
                <a:latin typeface="Segoe UI"/>
                <a:cs typeface="Segoe UI"/>
              </a:rPr>
              <a:t>RAG</a:t>
            </a:r>
            <a:r>
              <a:rPr sz="1400" b="1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dynamically</a:t>
            </a:r>
            <a:r>
              <a:rPr sz="14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retrieves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external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from</a:t>
            </a:r>
            <a:r>
              <a:rPr sz="14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databases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APIs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during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inference,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enabling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access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incorporate 	real-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time,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ensuring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generated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responses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are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up-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to-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date.</a:t>
            </a:r>
            <a:r>
              <a:rPr sz="14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doesn't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alter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model's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internal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knowledge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but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enhances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its 	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answers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current,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relevant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data.</a:t>
            </a:r>
            <a:endParaRPr sz="1400">
              <a:latin typeface="Segoe UI"/>
              <a:cs typeface="Segoe UI"/>
            </a:endParaRPr>
          </a:p>
          <a:p>
            <a:pPr marL="183515" marR="5080" indent="-171450">
              <a:lnSpc>
                <a:spcPct val="150000"/>
              </a:lnSpc>
              <a:buFont typeface="Arial"/>
              <a:buChar char="•"/>
              <a:tabLst>
                <a:tab pos="184785" algn="l"/>
              </a:tabLst>
            </a:pP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contrast,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Segoe UI"/>
                <a:cs typeface="Segoe UI"/>
              </a:rPr>
              <a:t>fine-</a:t>
            </a:r>
            <a:r>
              <a:rPr sz="1400" b="1" dirty="0">
                <a:solidFill>
                  <a:srgbClr val="333333"/>
                </a:solidFill>
                <a:latin typeface="Segoe UI"/>
                <a:cs typeface="Segoe UI"/>
              </a:rPr>
              <a:t>tuning</a:t>
            </a:r>
            <a:r>
              <a:rPr sz="1400" b="1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involves</a:t>
            </a:r>
            <a:r>
              <a:rPr sz="14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retraining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domain-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specific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dataset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embed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specialized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knowledge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directly 	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into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itself.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This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means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fine-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tuned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provide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consistent,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specialized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outputs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but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lack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ability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adapt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new</a:t>
            </a:r>
            <a:r>
              <a:rPr sz="1400" spc="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or 	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updated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information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without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retraining</a:t>
            </a:r>
            <a:r>
              <a:rPr sz="1400" spc="-10" dirty="0">
                <a:latin typeface="Calibri"/>
                <a:cs typeface="Calibri"/>
              </a:rPr>
              <a:t>.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This</a:t>
            </a:r>
            <a:r>
              <a:rPr sz="14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permanently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embeds</a:t>
            </a:r>
            <a:r>
              <a:rPr sz="14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domain-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specific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knowledge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within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model,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making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more 	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adept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at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particular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tasks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but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unable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incorporate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new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information</a:t>
            </a:r>
            <a:r>
              <a:rPr sz="14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unless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retrained</a:t>
            </a:r>
            <a:endParaRPr sz="14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24166" y="1010411"/>
            <a:ext cx="10523220" cy="5193030"/>
            <a:chOff x="824166" y="1010411"/>
            <a:chExt cx="10523220" cy="5193030"/>
          </a:xfrm>
        </p:grpSpPr>
        <p:sp>
          <p:nvSpPr>
            <p:cNvPr id="3" name="object 3"/>
            <p:cNvSpPr/>
            <p:nvPr/>
          </p:nvSpPr>
          <p:spPr>
            <a:xfrm>
              <a:off x="827341" y="1013586"/>
              <a:ext cx="10516870" cy="7620"/>
            </a:xfrm>
            <a:custGeom>
              <a:avLst/>
              <a:gdLst/>
              <a:ahLst/>
              <a:cxnLst/>
              <a:rect l="l" t="t" r="r" b="b"/>
              <a:pathLst>
                <a:path w="10516870" h="7619">
                  <a:moveTo>
                    <a:pt x="0" y="0"/>
                  </a:moveTo>
                  <a:lnTo>
                    <a:pt x="10516806" y="7112"/>
                  </a:lnTo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47508" y="1041488"/>
              <a:ext cx="8303658" cy="5161351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045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333333"/>
                </a:solidFill>
                <a:latin typeface="Segoe UI"/>
                <a:cs typeface="Segoe UI"/>
              </a:rPr>
              <a:t>Retrieval-</a:t>
            </a: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Augmented</a:t>
            </a:r>
            <a:r>
              <a:rPr sz="2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Generation</a:t>
            </a:r>
            <a:r>
              <a:rPr sz="2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(RAG)</a:t>
            </a:r>
            <a:r>
              <a:rPr sz="24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–</a:t>
            </a:r>
            <a:r>
              <a:rPr sz="2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spc="-20" dirty="0">
                <a:solidFill>
                  <a:srgbClr val="333333"/>
                </a:solidFill>
                <a:latin typeface="Segoe UI"/>
                <a:cs typeface="Segoe UI"/>
              </a:rPr>
              <a:t>Cont.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pc="-10" dirty="0"/>
              <a:t>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51233" y="6675958"/>
            <a:ext cx="405765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44"/>
              </a:lnSpc>
            </a:pPr>
            <a:r>
              <a:rPr sz="1000" spc="-10" dirty="0">
                <a:latin typeface="Calibri"/>
                <a:cs typeface="Calibri"/>
              </a:rPr>
              <a:t>General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4166" y="-1"/>
            <a:ext cx="11298555" cy="6858000"/>
            <a:chOff x="824166" y="-1"/>
            <a:chExt cx="11298555" cy="6858000"/>
          </a:xfrm>
        </p:grpSpPr>
        <p:sp>
          <p:nvSpPr>
            <p:cNvPr id="4" name="object 4"/>
            <p:cNvSpPr/>
            <p:nvPr/>
          </p:nvSpPr>
          <p:spPr>
            <a:xfrm>
              <a:off x="827341" y="1013586"/>
              <a:ext cx="10516870" cy="7620"/>
            </a:xfrm>
            <a:custGeom>
              <a:avLst/>
              <a:gdLst/>
              <a:ahLst/>
              <a:cxnLst/>
              <a:rect l="l" t="t" r="r" b="b"/>
              <a:pathLst>
                <a:path w="10516870" h="7619">
                  <a:moveTo>
                    <a:pt x="0" y="0"/>
                  </a:moveTo>
                  <a:lnTo>
                    <a:pt x="10516806" y="7112"/>
                  </a:lnTo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02884" y="-1"/>
              <a:ext cx="6819392" cy="68579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045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RAG</a:t>
            </a:r>
            <a:r>
              <a:rPr sz="2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24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pipeline</a:t>
            </a:r>
            <a:r>
              <a:rPr sz="2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spc="-20" dirty="0">
                <a:solidFill>
                  <a:srgbClr val="333333"/>
                </a:solidFill>
                <a:latin typeface="Segoe UI"/>
                <a:cs typeface="Segoe UI"/>
              </a:rPr>
              <a:t>flow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7" name="object 7"/>
          <p:cNvSpPr txBox="1"/>
          <p:nvPr/>
        </p:nvSpPr>
        <p:spPr>
          <a:xfrm>
            <a:off x="941628" y="1034033"/>
            <a:ext cx="3933825" cy="5238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3555">
              <a:lnSpc>
                <a:spcPct val="15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333333"/>
                </a:solidFill>
                <a:latin typeface="Segoe UI"/>
                <a:cs typeface="Segoe UI"/>
              </a:rPr>
              <a:t>High-</a:t>
            </a:r>
            <a:r>
              <a:rPr sz="1200" b="1" dirty="0">
                <a:solidFill>
                  <a:srgbClr val="333333"/>
                </a:solidFill>
                <a:latin typeface="Segoe UI"/>
                <a:cs typeface="Segoe UI"/>
              </a:rPr>
              <a:t>level</a:t>
            </a:r>
            <a:r>
              <a:rPr sz="1200" b="1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333333"/>
                </a:solidFill>
                <a:latin typeface="Segoe UI"/>
                <a:cs typeface="Segoe UI"/>
              </a:rPr>
              <a:t>flow</a:t>
            </a:r>
            <a:r>
              <a:rPr sz="1200" b="1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200" b="1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200" b="1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200" b="1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333333"/>
                </a:solidFill>
                <a:latin typeface="Segoe UI"/>
                <a:cs typeface="Segoe UI"/>
              </a:rPr>
              <a:t>pipeline</a:t>
            </a:r>
            <a:r>
              <a:rPr sz="1200" b="1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200" b="1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 spc="-10" dirty="0">
                <a:solidFill>
                  <a:srgbClr val="333333"/>
                </a:solidFill>
                <a:latin typeface="Segoe UI"/>
                <a:cs typeface="Segoe UI"/>
              </a:rPr>
              <a:t>supplies </a:t>
            </a:r>
            <a:r>
              <a:rPr sz="1200" b="1" dirty="0">
                <a:solidFill>
                  <a:srgbClr val="333333"/>
                </a:solidFill>
                <a:latin typeface="Segoe UI"/>
                <a:cs typeface="Segoe UI"/>
              </a:rPr>
              <a:t>grounding</a:t>
            </a:r>
            <a:r>
              <a:rPr sz="1200" b="1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200" b="1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200" b="1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200" b="1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333333"/>
                </a:solidFill>
                <a:latin typeface="Segoe UI"/>
                <a:cs typeface="Segoe UI"/>
              </a:rPr>
              <a:t>RAG</a:t>
            </a:r>
            <a:r>
              <a:rPr sz="1200" b="1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 spc="-10" dirty="0">
                <a:solidFill>
                  <a:srgbClr val="333333"/>
                </a:solidFill>
                <a:latin typeface="Segoe UI"/>
                <a:cs typeface="Segoe UI"/>
              </a:rPr>
              <a:t>application:</a:t>
            </a:r>
            <a:endParaRPr sz="1200">
              <a:latin typeface="Segoe UI"/>
              <a:cs typeface="Segoe UI"/>
            </a:endParaRPr>
          </a:p>
          <a:p>
            <a:pPr marL="239395" marR="306070" indent="-226695">
              <a:lnSpc>
                <a:spcPts val="2160"/>
              </a:lnSpc>
              <a:spcBef>
                <a:spcPts val="190"/>
              </a:spcBef>
              <a:buAutoNum type="arabicPeriod"/>
              <a:tabLst>
                <a:tab pos="241300" algn="l"/>
              </a:tabLst>
            </a:pP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Documents</a:t>
            </a:r>
            <a:r>
              <a:rPr sz="12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are</a:t>
            </a:r>
            <a:r>
              <a:rPr sz="12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either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pushed</a:t>
            </a:r>
            <a:r>
              <a:rPr sz="12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2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pulled</a:t>
            </a:r>
            <a:r>
              <a:rPr sz="12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into</a:t>
            </a:r>
            <a:r>
              <a:rPr sz="12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200" spc="-20" dirty="0">
                <a:solidFill>
                  <a:srgbClr val="333333"/>
                </a:solidFill>
                <a:latin typeface="Segoe UI"/>
                <a:cs typeface="Segoe UI"/>
              </a:rPr>
              <a:t> data 	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pipeline.</a:t>
            </a:r>
            <a:endParaRPr sz="1200">
              <a:latin typeface="Segoe UI"/>
              <a:cs typeface="Segoe UI"/>
            </a:endParaRPr>
          </a:p>
          <a:p>
            <a:pPr marL="239395" marR="577850" indent="-226695">
              <a:lnSpc>
                <a:spcPts val="2160"/>
              </a:lnSpc>
              <a:spcBef>
                <a:spcPts val="5"/>
              </a:spcBef>
              <a:buAutoNum type="arabicPeriod"/>
              <a:tabLst>
                <a:tab pos="241300" algn="l"/>
              </a:tabLst>
            </a:pP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2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2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pipeline</a:t>
            </a:r>
            <a:r>
              <a:rPr sz="12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processes</a:t>
            </a:r>
            <a:r>
              <a:rPr sz="12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each</a:t>
            </a:r>
            <a:r>
              <a:rPr sz="12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document 	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individually</a:t>
            </a:r>
            <a:r>
              <a:rPr sz="12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by</a:t>
            </a:r>
            <a:r>
              <a:rPr sz="12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completing</a:t>
            </a:r>
            <a:r>
              <a:rPr sz="12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2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following</a:t>
            </a:r>
            <a:r>
              <a:rPr sz="12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steps:</a:t>
            </a:r>
            <a:endParaRPr sz="1200">
              <a:latin typeface="Segoe UI"/>
              <a:cs typeface="Segoe UI"/>
            </a:endParaRPr>
          </a:p>
          <a:p>
            <a:pPr marL="756285" marR="26670" lvl="1" indent="-287020">
              <a:lnSpc>
                <a:spcPts val="2160"/>
              </a:lnSpc>
              <a:buAutoNum type="alphaLcPeriod"/>
              <a:tabLst>
                <a:tab pos="756285" algn="l"/>
              </a:tabLst>
            </a:pPr>
            <a:r>
              <a:rPr sz="1200" b="1" dirty="0">
                <a:solidFill>
                  <a:srgbClr val="333333"/>
                </a:solidFill>
                <a:latin typeface="Segoe UI"/>
                <a:cs typeface="Segoe UI"/>
              </a:rPr>
              <a:t>Chunk</a:t>
            </a:r>
            <a:r>
              <a:rPr sz="1200" b="1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333333"/>
                </a:solidFill>
                <a:latin typeface="Segoe UI"/>
                <a:cs typeface="Segoe UI"/>
              </a:rPr>
              <a:t>document:</a:t>
            </a:r>
            <a:r>
              <a:rPr sz="1200" b="1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Breaks</a:t>
            </a:r>
            <a:r>
              <a:rPr sz="12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down</a:t>
            </a:r>
            <a:r>
              <a:rPr sz="12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2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document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into</a:t>
            </a:r>
            <a:r>
              <a:rPr sz="12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semantically</a:t>
            </a:r>
            <a:r>
              <a:rPr sz="12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relevant</a:t>
            </a:r>
            <a:r>
              <a:rPr sz="12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parts</a:t>
            </a:r>
            <a:r>
              <a:rPr sz="12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2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ideally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have</a:t>
            </a:r>
            <a:r>
              <a:rPr sz="12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single</a:t>
            </a:r>
            <a:r>
              <a:rPr sz="12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idea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2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concept.</a:t>
            </a:r>
            <a:endParaRPr sz="1200">
              <a:latin typeface="Segoe UI"/>
              <a:cs typeface="Segoe UI"/>
            </a:endParaRPr>
          </a:p>
          <a:p>
            <a:pPr marL="756285" marR="111125" lvl="1" indent="-287020">
              <a:lnSpc>
                <a:spcPts val="2160"/>
              </a:lnSpc>
              <a:buAutoNum type="alphaLcPeriod"/>
              <a:tabLst>
                <a:tab pos="756285" algn="l"/>
              </a:tabLst>
            </a:pPr>
            <a:r>
              <a:rPr sz="1200" b="1" dirty="0">
                <a:solidFill>
                  <a:srgbClr val="333333"/>
                </a:solidFill>
                <a:latin typeface="Segoe UI"/>
                <a:cs typeface="Segoe UI"/>
              </a:rPr>
              <a:t>Enrich</a:t>
            </a:r>
            <a:r>
              <a:rPr sz="1200" b="1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333333"/>
                </a:solidFill>
                <a:latin typeface="Segoe UI"/>
                <a:cs typeface="Segoe UI"/>
              </a:rPr>
              <a:t>chunks:</a:t>
            </a:r>
            <a:r>
              <a:rPr sz="1200" b="1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Adds</a:t>
            </a:r>
            <a:r>
              <a:rPr sz="12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metadata</a:t>
            </a:r>
            <a:r>
              <a:rPr sz="12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fields</a:t>
            </a:r>
            <a:r>
              <a:rPr sz="12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2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25" dirty="0">
                <a:solidFill>
                  <a:srgbClr val="333333"/>
                </a:solidFill>
                <a:latin typeface="Segoe UI"/>
                <a:cs typeface="Segoe UI"/>
              </a:rPr>
              <a:t>the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pipeline</a:t>
            </a:r>
            <a:r>
              <a:rPr sz="12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creates</a:t>
            </a:r>
            <a:r>
              <a:rPr sz="12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based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2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2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content</a:t>
            </a:r>
            <a:r>
              <a:rPr sz="12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2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25" dirty="0">
                <a:solidFill>
                  <a:srgbClr val="333333"/>
                </a:solidFill>
                <a:latin typeface="Segoe UI"/>
                <a:cs typeface="Segoe UI"/>
              </a:rPr>
              <a:t>the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chunks.</a:t>
            </a:r>
            <a:r>
              <a:rPr sz="12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2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2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pipeline</a:t>
            </a:r>
            <a:r>
              <a:rPr sz="12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categorizes</a:t>
            </a:r>
            <a:r>
              <a:rPr sz="12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25" dirty="0">
                <a:solidFill>
                  <a:srgbClr val="333333"/>
                </a:solidFill>
                <a:latin typeface="Segoe UI"/>
                <a:cs typeface="Segoe UI"/>
              </a:rPr>
              <a:t>the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metadata</a:t>
            </a:r>
            <a:r>
              <a:rPr sz="12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into</a:t>
            </a:r>
            <a:r>
              <a:rPr sz="12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discrete</a:t>
            </a:r>
            <a:r>
              <a:rPr sz="12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fields,</a:t>
            </a:r>
            <a:r>
              <a:rPr sz="12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such</a:t>
            </a:r>
            <a:r>
              <a:rPr sz="12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2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title,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summary,</a:t>
            </a:r>
            <a:r>
              <a:rPr sz="12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2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keywords.</a:t>
            </a:r>
            <a:endParaRPr sz="12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530"/>
              </a:spcBef>
              <a:buAutoNum type="alphaLcPeriod"/>
              <a:tabLst>
                <a:tab pos="756285" algn="l"/>
              </a:tabLst>
            </a:pPr>
            <a:r>
              <a:rPr sz="1200" b="1" dirty="0">
                <a:solidFill>
                  <a:srgbClr val="333333"/>
                </a:solidFill>
                <a:latin typeface="Segoe UI"/>
                <a:cs typeface="Segoe UI"/>
              </a:rPr>
              <a:t>Embed</a:t>
            </a:r>
            <a:r>
              <a:rPr sz="1200" b="1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333333"/>
                </a:solidFill>
                <a:latin typeface="Segoe UI"/>
                <a:cs typeface="Segoe UI"/>
              </a:rPr>
              <a:t>chunks:</a:t>
            </a:r>
            <a:r>
              <a:rPr sz="1200" b="1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Uses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an</a:t>
            </a:r>
            <a:r>
              <a:rPr sz="12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embedding</a:t>
            </a:r>
            <a:r>
              <a:rPr sz="12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200" spc="-25" dirty="0">
                <a:solidFill>
                  <a:srgbClr val="333333"/>
                </a:solidFill>
                <a:latin typeface="Segoe UI"/>
                <a:cs typeface="Segoe UI"/>
              </a:rPr>
              <a:t> to</a:t>
            </a:r>
            <a:endParaRPr sz="1200">
              <a:latin typeface="Segoe UI"/>
              <a:cs typeface="Segoe UI"/>
            </a:endParaRPr>
          </a:p>
          <a:p>
            <a:pPr marL="756285" marR="219075">
              <a:lnSpc>
                <a:spcPct val="150000"/>
              </a:lnSpc>
            </a:pP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vectorize</a:t>
            </a:r>
            <a:r>
              <a:rPr sz="12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2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chunk</a:t>
            </a:r>
            <a:r>
              <a:rPr sz="12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any</a:t>
            </a:r>
            <a:r>
              <a:rPr sz="12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other</a:t>
            </a:r>
            <a:r>
              <a:rPr sz="12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metadata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fields</a:t>
            </a:r>
            <a:r>
              <a:rPr sz="12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2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are</a:t>
            </a:r>
            <a:r>
              <a:rPr sz="12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used</a:t>
            </a:r>
            <a:r>
              <a:rPr sz="12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2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vector</a:t>
            </a:r>
            <a:r>
              <a:rPr sz="12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searches.</a:t>
            </a:r>
            <a:endParaRPr sz="1200">
              <a:latin typeface="Segoe UI"/>
              <a:cs typeface="Segoe UI"/>
            </a:endParaRPr>
          </a:p>
          <a:p>
            <a:pPr marL="756285" marR="5080" lvl="1" indent="-287020">
              <a:lnSpc>
                <a:spcPct val="150000"/>
              </a:lnSpc>
              <a:buAutoNum type="alphaLcPeriod" startAt="4"/>
              <a:tabLst>
                <a:tab pos="756285" algn="l"/>
              </a:tabLst>
            </a:pPr>
            <a:r>
              <a:rPr sz="1200" b="1" dirty="0">
                <a:solidFill>
                  <a:srgbClr val="333333"/>
                </a:solidFill>
                <a:latin typeface="Segoe UI"/>
                <a:cs typeface="Segoe UI"/>
              </a:rPr>
              <a:t>Persist</a:t>
            </a:r>
            <a:r>
              <a:rPr sz="1200" b="1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333333"/>
                </a:solidFill>
                <a:latin typeface="Segoe UI"/>
                <a:cs typeface="Segoe UI"/>
              </a:rPr>
              <a:t>chunks:</a:t>
            </a:r>
            <a:r>
              <a:rPr sz="1200" b="1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Stores</a:t>
            </a:r>
            <a:r>
              <a:rPr sz="12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2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chunks</a:t>
            </a:r>
            <a:r>
              <a:rPr sz="12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2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2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search index.</a:t>
            </a:r>
            <a:endParaRPr sz="12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7341" y="101358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19">
                <a:moveTo>
                  <a:pt x="0" y="0"/>
                </a:moveTo>
                <a:lnTo>
                  <a:pt x="10516806" y="7112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045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RAG</a:t>
            </a:r>
            <a:r>
              <a:rPr sz="2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–</a:t>
            </a:r>
            <a:r>
              <a:rPr sz="2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Segoe UI"/>
                <a:cs typeface="Segoe UI"/>
              </a:rPr>
              <a:t>Embeddings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8956" y="1022984"/>
            <a:ext cx="6221730" cy="43249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333333"/>
                </a:solidFill>
                <a:latin typeface="Segoe UI"/>
                <a:cs typeface="Segoe UI"/>
              </a:rPr>
              <a:t>Embeddings</a:t>
            </a:r>
            <a:r>
              <a:rPr sz="1400" b="1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are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way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represent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words,</a:t>
            </a:r>
            <a:r>
              <a:rPr sz="14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sentences,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even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entire</a:t>
            </a: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documents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4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dense</a:t>
            </a:r>
            <a:r>
              <a:rPr sz="14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vectors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high-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dimensional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space.</a:t>
            </a:r>
            <a:endParaRPr sz="1400">
              <a:latin typeface="Segoe UI"/>
              <a:cs typeface="Segoe UI"/>
            </a:endParaRPr>
          </a:p>
          <a:p>
            <a:pPr marL="12700" marR="52069">
              <a:lnSpc>
                <a:spcPct val="100000"/>
              </a:lnSpc>
              <a:spcBef>
                <a:spcPts val="1680"/>
              </a:spcBef>
            </a:pPr>
            <a:r>
              <a:rPr sz="1400" b="1" dirty="0">
                <a:solidFill>
                  <a:srgbClr val="333333"/>
                </a:solidFill>
                <a:latin typeface="Segoe UI"/>
                <a:cs typeface="Segoe UI"/>
              </a:rPr>
              <a:t>An</a:t>
            </a:r>
            <a:r>
              <a:rPr sz="1400" b="1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Segoe UI"/>
                <a:cs typeface="Segoe UI"/>
              </a:rPr>
              <a:t>embedding</a:t>
            </a:r>
            <a:r>
              <a:rPr sz="1400" b="1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mathematical</a:t>
            </a:r>
            <a:r>
              <a:rPr sz="14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representation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an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object,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such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text.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When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neural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network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being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trained,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many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representations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an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object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are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created.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Each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representation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has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connections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other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objects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network.</a:t>
            </a:r>
            <a:endParaRPr sz="1400">
              <a:latin typeface="Segoe UI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360"/>
              </a:spcBef>
            </a:pPr>
            <a:r>
              <a:rPr sz="1400" i="1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i="1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i="1" dirty="0">
                <a:solidFill>
                  <a:srgbClr val="333333"/>
                </a:solidFill>
                <a:latin typeface="Segoe UI"/>
                <a:cs typeface="Segoe UI"/>
              </a:rPr>
              <a:t>purpose</a:t>
            </a:r>
            <a:r>
              <a:rPr sz="1400" i="1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i="1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400" i="1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i="1" dirty="0">
                <a:solidFill>
                  <a:srgbClr val="333333"/>
                </a:solidFill>
                <a:latin typeface="Segoe UI"/>
                <a:cs typeface="Segoe UI"/>
              </a:rPr>
              <a:t>embeddings</a:t>
            </a:r>
            <a:r>
              <a:rPr sz="1400" i="1" spc="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i="1" dirty="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400" i="1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i="1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i="1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i="1" dirty="0">
                <a:solidFill>
                  <a:srgbClr val="333333"/>
                </a:solidFill>
                <a:latin typeface="Segoe UI"/>
                <a:cs typeface="Segoe UI"/>
              </a:rPr>
              <a:t>capture</a:t>
            </a:r>
            <a:r>
              <a:rPr sz="1400" i="1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i="1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i="1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i="1" dirty="0">
                <a:solidFill>
                  <a:srgbClr val="333333"/>
                </a:solidFill>
                <a:latin typeface="Segoe UI"/>
                <a:cs typeface="Segoe UI"/>
              </a:rPr>
              <a:t>semantic</a:t>
            </a:r>
            <a:r>
              <a:rPr sz="1400" i="1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i="1" dirty="0">
                <a:solidFill>
                  <a:srgbClr val="333333"/>
                </a:solidFill>
                <a:latin typeface="Segoe UI"/>
                <a:cs typeface="Segoe UI"/>
              </a:rPr>
              <a:t>meaning</a:t>
            </a:r>
            <a:r>
              <a:rPr sz="1400" i="1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i="1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400" i="1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i="1" dirty="0">
                <a:solidFill>
                  <a:srgbClr val="333333"/>
                </a:solidFill>
                <a:latin typeface="Segoe UI"/>
                <a:cs typeface="Segoe UI"/>
              </a:rPr>
              <a:t>text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,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such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that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words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phrases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similar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meanings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are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located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closer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each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other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this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vector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space.</a:t>
            </a: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400" b="1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400" b="1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Segoe UI"/>
                <a:cs typeface="Segoe UI"/>
              </a:rPr>
              <a:t>example:</a:t>
            </a:r>
            <a:endParaRPr sz="1400">
              <a:latin typeface="Segoe UI"/>
              <a:cs typeface="Segoe UI"/>
            </a:endParaRPr>
          </a:p>
          <a:p>
            <a:pPr marL="299085" indent="-28638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words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“king”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“queen”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might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be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close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each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other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an</a:t>
            </a:r>
            <a:endParaRPr sz="1400">
              <a:latin typeface="Segoe UI"/>
              <a:cs typeface="Segoe UI"/>
            </a:endParaRPr>
          </a:p>
          <a:p>
            <a:pPr marL="299085">
              <a:lnSpc>
                <a:spcPct val="100000"/>
              </a:lnSpc>
            </a:pP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embedding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space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because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they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share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similar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semantics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(both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are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royalty).</a:t>
            </a:r>
            <a:endParaRPr sz="14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1400">
              <a:latin typeface="Segoe UI"/>
              <a:cs typeface="Segoe UI"/>
            </a:endParaRPr>
          </a:p>
          <a:p>
            <a:pPr marL="12700" marR="99060">
              <a:lnSpc>
                <a:spcPct val="100000"/>
              </a:lnSpc>
            </a:pPr>
            <a:r>
              <a:rPr sz="1400" b="1" dirty="0">
                <a:solidFill>
                  <a:srgbClr val="333333"/>
                </a:solidFill>
                <a:latin typeface="Segoe UI"/>
                <a:cs typeface="Segoe UI"/>
              </a:rPr>
              <a:t>Embedding</a:t>
            </a:r>
            <a:r>
              <a:rPr sz="1400" b="1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Segoe UI"/>
                <a:cs typeface="Segoe UI"/>
              </a:rPr>
              <a:t>similarity:</a:t>
            </a:r>
            <a:r>
              <a:rPr sz="1400" b="1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distance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between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any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two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items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be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calculated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mathematically</a:t>
            </a:r>
            <a:r>
              <a:rPr sz="14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be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interpreted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measure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relative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similarity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between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those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two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items.</a:t>
            </a:r>
            <a:endParaRPr sz="1400">
              <a:latin typeface="Segoe UI"/>
              <a:cs typeface="Segoe UI"/>
            </a:endParaRPr>
          </a:p>
          <a:p>
            <a:pPr marL="12700" marR="176530">
              <a:lnSpc>
                <a:spcPct val="100000"/>
              </a:lnSpc>
              <a:spcBef>
                <a:spcPts val="1680"/>
              </a:spcBef>
            </a:pP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trained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such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way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these vectors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capture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essential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features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characteristics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underlying</a:t>
            </a:r>
            <a:r>
              <a:rPr sz="14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data.</a:t>
            </a:r>
            <a:endParaRPr sz="1400">
              <a:latin typeface="Segoe UI"/>
              <a:cs typeface="Segoe U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51065" y="1129157"/>
            <a:ext cx="4940934" cy="309651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pc="-10" dirty="0"/>
              <a:t>General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0349" y="1000886"/>
            <a:ext cx="11846560" cy="5610225"/>
            <a:chOff x="310349" y="1000886"/>
            <a:chExt cx="11846560" cy="5610225"/>
          </a:xfrm>
        </p:grpSpPr>
        <p:sp>
          <p:nvSpPr>
            <p:cNvPr id="3" name="object 3"/>
            <p:cNvSpPr/>
            <p:nvPr/>
          </p:nvSpPr>
          <p:spPr>
            <a:xfrm>
              <a:off x="827341" y="1013586"/>
              <a:ext cx="10516870" cy="7620"/>
            </a:xfrm>
            <a:custGeom>
              <a:avLst/>
              <a:gdLst/>
              <a:ahLst/>
              <a:cxnLst/>
              <a:rect l="l" t="t" r="r" b="b"/>
              <a:pathLst>
                <a:path w="10516870" h="7619">
                  <a:moveTo>
                    <a:pt x="0" y="0"/>
                  </a:moveTo>
                  <a:lnTo>
                    <a:pt x="10516806" y="7112"/>
                  </a:lnTo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0349" y="1238503"/>
              <a:ext cx="7794752" cy="40483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07731" y="1000886"/>
              <a:ext cx="4148582" cy="266877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84844" y="3676357"/>
              <a:ext cx="2719324" cy="2901696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045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RAG</a:t>
            </a:r>
            <a:r>
              <a:rPr sz="24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–</a:t>
            </a:r>
            <a:r>
              <a:rPr sz="24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Embeddings</a:t>
            </a:r>
            <a:r>
              <a:rPr sz="24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Segoe UI"/>
                <a:cs typeface="Segoe UI"/>
              </a:rPr>
              <a:t>(Cont.)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pc="-10" dirty="0"/>
              <a:t>General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24166" y="994384"/>
            <a:ext cx="10547985" cy="5617210"/>
            <a:chOff x="824166" y="994384"/>
            <a:chExt cx="10547985" cy="5617210"/>
          </a:xfrm>
        </p:grpSpPr>
        <p:sp>
          <p:nvSpPr>
            <p:cNvPr id="3" name="object 3"/>
            <p:cNvSpPr/>
            <p:nvPr/>
          </p:nvSpPr>
          <p:spPr>
            <a:xfrm>
              <a:off x="827341" y="1013586"/>
              <a:ext cx="10516870" cy="7620"/>
            </a:xfrm>
            <a:custGeom>
              <a:avLst/>
              <a:gdLst/>
              <a:ahLst/>
              <a:cxnLst/>
              <a:rect l="l" t="t" r="r" b="b"/>
              <a:pathLst>
                <a:path w="10516870" h="7619">
                  <a:moveTo>
                    <a:pt x="0" y="0"/>
                  </a:moveTo>
                  <a:lnTo>
                    <a:pt x="10516806" y="7112"/>
                  </a:lnTo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1138" y="994384"/>
              <a:ext cx="10240772" cy="543953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045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RAG</a:t>
            </a:r>
            <a:r>
              <a:rPr sz="2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–</a:t>
            </a:r>
            <a:r>
              <a:rPr sz="2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Creating</a:t>
            </a:r>
            <a:r>
              <a:rPr sz="2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Segoe UI"/>
                <a:cs typeface="Segoe UI"/>
              </a:rPr>
              <a:t>Embeddings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1880107" y="6521502"/>
            <a:ext cx="2791460" cy="32956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800" u="sng" dirty="0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3"/>
              </a:rPr>
              <a:t>API</a:t>
            </a:r>
            <a:r>
              <a:rPr sz="1800" u="sng" spc="-60" dirty="0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3"/>
              </a:rPr>
              <a:t> </a:t>
            </a:r>
            <a:r>
              <a:rPr sz="1800" u="sng" dirty="0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3"/>
              </a:rPr>
              <a:t>Reference</a:t>
            </a:r>
            <a:r>
              <a:rPr sz="1800" u="sng" spc="-60" dirty="0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3"/>
              </a:rPr>
              <a:t> </a:t>
            </a:r>
            <a:r>
              <a:rPr sz="1800" u="sng" dirty="0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3"/>
              </a:rPr>
              <a:t>-</a:t>
            </a:r>
            <a:r>
              <a:rPr sz="1800" u="sng" spc="-50" dirty="0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3"/>
              </a:rPr>
              <a:t> </a:t>
            </a:r>
            <a:r>
              <a:rPr sz="1800" u="sng" dirty="0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3"/>
              </a:rPr>
              <a:t>OpenAI</a:t>
            </a:r>
            <a:r>
              <a:rPr sz="1800" u="sng" spc="-50" dirty="0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3"/>
              </a:rPr>
              <a:t> </a:t>
            </a:r>
            <a:r>
              <a:rPr sz="1800" u="sng" spc="-25" dirty="0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3"/>
              </a:rPr>
              <a:t>API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pc="-10" dirty="0"/>
              <a:t>General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7341" y="101358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19">
                <a:moveTo>
                  <a:pt x="0" y="0"/>
                </a:moveTo>
                <a:lnTo>
                  <a:pt x="10516806" y="7112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045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RAG</a:t>
            </a:r>
            <a:r>
              <a:rPr sz="24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–</a:t>
            </a:r>
            <a:r>
              <a:rPr sz="2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spc="-20" dirty="0">
                <a:solidFill>
                  <a:srgbClr val="333333"/>
                </a:solidFill>
                <a:latin typeface="Segoe UI"/>
                <a:cs typeface="Segoe UI"/>
              </a:rPr>
              <a:t>Vector</a:t>
            </a:r>
            <a:r>
              <a:rPr sz="2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Segoe UI"/>
                <a:cs typeface="Segoe UI"/>
              </a:rPr>
              <a:t>databases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8956" y="983589"/>
            <a:ext cx="9755505" cy="98679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b="1" spc="-10" dirty="0">
                <a:solidFill>
                  <a:srgbClr val="333333"/>
                </a:solidFill>
                <a:latin typeface="Segoe UI"/>
                <a:cs typeface="Segoe UI"/>
              </a:rPr>
              <a:t>Vector</a:t>
            </a:r>
            <a:r>
              <a:rPr sz="1400" b="1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Segoe UI"/>
                <a:cs typeface="Segoe UI"/>
              </a:rPr>
              <a:t>database</a:t>
            </a:r>
            <a:r>
              <a:rPr sz="1400" b="1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stores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unstructured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(text,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images,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audio,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video,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etc.)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form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vector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embeddings.</a:t>
            </a:r>
            <a:endParaRPr sz="1400">
              <a:latin typeface="Segoe UI"/>
              <a:cs typeface="Segoe UI"/>
            </a:endParaRPr>
          </a:p>
          <a:p>
            <a:pPr marL="12700" marR="5080">
              <a:lnSpc>
                <a:spcPct val="150000"/>
              </a:lnSpc>
              <a:spcBef>
                <a:spcPts val="5"/>
              </a:spcBef>
            </a:pP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Each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point,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whether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word,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document,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an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image,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any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other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entity,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transformed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into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numerical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vector</a:t>
            </a:r>
            <a:r>
              <a:rPr sz="14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using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ML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techniques.</a:t>
            </a:r>
            <a:endParaRPr sz="1400">
              <a:latin typeface="Segoe UI"/>
              <a:cs typeface="Segoe U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1283" y="2196456"/>
            <a:ext cx="5070649" cy="259216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83299" y="1884156"/>
            <a:ext cx="5054024" cy="309377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pc="-10" dirty="0"/>
              <a:t>General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7341" y="101358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19">
                <a:moveTo>
                  <a:pt x="0" y="0"/>
                </a:moveTo>
                <a:lnTo>
                  <a:pt x="10516806" y="7112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045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RAG</a:t>
            </a:r>
            <a:r>
              <a:rPr sz="2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–</a:t>
            </a:r>
            <a:r>
              <a:rPr sz="2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Putting</a:t>
            </a:r>
            <a:r>
              <a:rPr sz="2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all</a:t>
            </a:r>
            <a:r>
              <a:rPr sz="2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Segoe UI"/>
                <a:cs typeface="Segoe UI"/>
              </a:rPr>
              <a:t>together</a:t>
            </a:r>
            <a:endParaRPr sz="240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5662" y="2431772"/>
            <a:ext cx="9542959" cy="238283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pc="-10" dirty="0"/>
              <a:t>General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7341" y="634640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20">
                <a:moveTo>
                  <a:pt x="0" y="0"/>
                </a:moveTo>
                <a:lnTo>
                  <a:pt x="10516806" y="7124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27341" y="101358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19">
                <a:moveTo>
                  <a:pt x="0" y="0"/>
                </a:moveTo>
                <a:lnTo>
                  <a:pt x="10516806" y="7112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045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RAG</a:t>
            </a:r>
            <a:r>
              <a:rPr sz="2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Segoe UI"/>
                <a:cs typeface="Segoe UI"/>
              </a:rPr>
              <a:t>re-represented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7341" y="6346939"/>
            <a:ext cx="519430" cy="26479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55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0"/>
              </a:spcBef>
            </a:pPr>
            <a:r>
              <a:rPr sz="1050" spc="-25" dirty="0">
                <a:solidFill>
                  <a:srgbClr val="FFFFFF"/>
                </a:solidFill>
                <a:latin typeface="Segoe UI"/>
                <a:cs typeface="Segoe UI"/>
              </a:rPr>
              <a:t>15</a:t>
            </a:r>
            <a:endParaRPr sz="1050">
              <a:latin typeface="Segoe UI"/>
              <a:cs typeface="Segoe U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853" y="1228725"/>
            <a:ext cx="10318242" cy="47641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pc="-10" dirty="0"/>
              <a:t>General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7423" y="1574038"/>
            <a:ext cx="3499485" cy="3333750"/>
          </a:xfrm>
          <a:custGeom>
            <a:avLst/>
            <a:gdLst/>
            <a:ahLst/>
            <a:cxnLst/>
            <a:rect l="l" t="t" r="r" b="b"/>
            <a:pathLst>
              <a:path w="3499485" h="3333750">
                <a:moveTo>
                  <a:pt x="2972816" y="0"/>
                </a:moveTo>
                <a:lnTo>
                  <a:pt x="0" y="0"/>
                </a:lnTo>
                <a:lnTo>
                  <a:pt x="0" y="3333750"/>
                </a:lnTo>
                <a:lnTo>
                  <a:pt x="2972816" y="3333750"/>
                </a:lnTo>
                <a:lnTo>
                  <a:pt x="3499104" y="1666875"/>
                </a:lnTo>
                <a:lnTo>
                  <a:pt x="2972816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90269" y="2843276"/>
            <a:ext cx="1908175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646430" marR="5080" indent="-634365">
              <a:lnSpc>
                <a:spcPts val="2590"/>
              </a:lnSpc>
              <a:spcBef>
                <a:spcPts val="425"/>
              </a:spcBef>
            </a:pPr>
            <a:r>
              <a:rPr sz="2400" b="0" dirty="0">
                <a:latin typeface="Calibri Light"/>
                <a:cs typeface="Calibri Light"/>
              </a:rPr>
              <a:t>RAG</a:t>
            </a:r>
            <a:r>
              <a:rPr sz="2400" b="0" spc="-114" dirty="0">
                <a:latin typeface="Calibri Light"/>
                <a:cs typeface="Calibri Light"/>
              </a:rPr>
              <a:t> </a:t>
            </a:r>
            <a:r>
              <a:rPr sz="2400" b="0" spc="-10" dirty="0">
                <a:latin typeface="Calibri Light"/>
                <a:cs typeface="Calibri Light"/>
              </a:rPr>
              <a:t>developer</a:t>
            </a:r>
            <a:r>
              <a:rPr sz="2400" b="0" i="1" spc="-10" dirty="0">
                <a:latin typeface="Calibri Light"/>
                <a:cs typeface="Calibri Light"/>
              </a:rPr>
              <a:t>’ </a:t>
            </a:r>
            <a:r>
              <a:rPr sz="2400" b="0" spc="-20" dirty="0">
                <a:latin typeface="Calibri Light"/>
                <a:cs typeface="Calibri Light"/>
              </a:rPr>
              <a:t>stack</a:t>
            </a:r>
            <a:endParaRPr sz="2400">
              <a:latin typeface="Calibri Light"/>
              <a:cs typeface="Calibri Ligh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14430" y="6493205"/>
            <a:ext cx="135320" cy="9893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8456" y="1239837"/>
            <a:ext cx="7235434" cy="389683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pc="-10" dirty="0"/>
              <a:t>General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7423" y="1574038"/>
            <a:ext cx="3499485" cy="3333750"/>
          </a:xfrm>
          <a:custGeom>
            <a:avLst/>
            <a:gdLst/>
            <a:ahLst/>
            <a:cxnLst/>
            <a:rect l="l" t="t" r="r" b="b"/>
            <a:pathLst>
              <a:path w="3499485" h="3333750">
                <a:moveTo>
                  <a:pt x="2972816" y="0"/>
                </a:moveTo>
                <a:lnTo>
                  <a:pt x="0" y="0"/>
                </a:lnTo>
                <a:lnTo>
                  <a:pt x="0" y="3333750"/>
                </a:lnTo>
                <a:lnTo>
                  <a:pt x="2972816" y="3333750"/>
                </a:lnTo>
                <a:lnTo>
                  <a:pt x="3499104" y="1666875"/>
                </a:lnTo>
                <a:lnTo>
                  <a:pt x="2972816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90269" y="2843276"/>
            <a:ext cx="1908175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646430" marR="5080" indent="-634365">
              <a:lnSpc>
                <a:spcPts val="2590"/>
              </a:lnSpc>
              <a:spcBef>
                <a:spcPts val="425"/>
              </a:spcBef>
            </a:pPr>
            <a:r>
              <a:rPr sz="2400" b="0" dirty="0">
                <a:latin typeface="Calibri Light"/>
                <a:cs typeface="Calibri Light"/>
              </a:rPr>
              <a:t>RAG</a:t>
            </a:r>
            <a:r>
              <a:rPr sz="2400" b="0" spc="-114" dirty="0">
                <a:latin typeface="Calibri Light"/>
                <a:cs typeface="Calibri Light"/>
              </a:rPr>
              <a:t> </a:t>
            </a:r>
            <a:r>
              <a:rPr sz="2400" b="0" spc="-10" dirty="0">
                <a:latin typeface="Calibri Light"/>
                <a:cs typeface="Calibri Light"/>
              </a:rPr>
              <a:t>developer</a:t>
            </a:r>
            <a:r>
              <a:rPr sz="2400" b="0" i="1" spc="-10" dirty="0">
                <a:latin typeface="Calibri Light"/>
                <a:cs typeface="Calibri Light"/>
              </a:rPr>
              <a:t>’ </a:t>
            </a:r>
            <a:r>
              <a:rPr sz="2400" b="0" spc="-20" dirty="0">
                <a:latin typeface="Calibri Light"/>
                <a:cs typeface="Calibri Light"/>
              </a:rPr>
              <a:t>stack</a:t>
            </a:r>
            <a:endParaRPr sz="2400">
              <a:latin typeface="Calibri Light"/>
              <a:cs typeface="Calibri Ligh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14430" y="6494513"/>
            <a:ext cx="133985" cy="965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3195" y="171145"/>
            <a:ext cx="5361970" cy="634498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pc="-10" dirty="0"/>
              <a:t>General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7423" y="1574038"/>
            <a:ext cx="3499485" cy="3333750"/>
          </a:xfrm>
          <a:custGeom>
            <a:avLst/>
            <a:gdLst/>
            <a:ahLst/>
            <a:cxnLst/>
            <a:rect l="l" t="t" r="r" b="b"/>
            <a:pathLst>
              <a:path w="3499485" h="3333750">
                <a:moveTo>
                  <a:pt x="2972816" y="0"/>
                </a:moveTo>
                <a:lnTo>
                  <a:pt x="0" y="0"/>
                </a:lnTo>
                <a:lnTo>
                  <a:pt x="0" y="3333750"/>
                </a:lnTo>
                <a:lnTo>
                  <a:pt x="2972816" y="3333750"/>
                </a:lnTo>
                <a:lnTo>
                  <a:pt x="3499104" y="1666875"/>
                </a:lnTo>
                <a:lnTo>
                  <a:pt x="2972816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36370" y="3007867"/>
            <a:ext cx="2216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0" dirty="0">
                <a:latin typeface="Calibri Light"/>
                <a:cs typeface="Calibri Light"/>
              </a:rPr>
              <a:t>RAG</a:t>
            </a:r>
            <a:r>
              <a:rPr sz="2400" b="0" spc="-114" dirty="0">
                <a:latin typeface="Calibri Light"/>
                <a:cs typeface="Calibri Light"/>
              </a:rPr>
              <a:t> </a:t>
            </a:r>
            <a:r>
              <a:rPr sz="2400" b="0" spc="-25" dirty="0">
                <a:latin typeface="Calibri Light"/>
                <a:cs typeface="Calibri Light"/>
              </a:rPr>
              <a:t>Architectures</a:t>
            </a:r>
            <a:endParaRPr sz="2400">
              <a:latin typeface="Calibri Light"/>
              <a:cs typeface="Calibri Ligh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86501" y="182371"/>
            <a:ext cx="5247639" cy="653910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14430" y="6493027"/>
            <a:ext cx="135127" cy="9911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pc="-10" dirty="0"/>
              <a:t>General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7341" y="101358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19">
                <a:moveTo>
                  <a:pt x="0" y="0"/>
                </a:moveTo>
                <a:lnTo>
                  <a:pt x="10516806" y="7112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045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solidFill>
                  <a:srgbClr val="333333"/>
                </a:solidFill>
                <a:latin typeface="Segoe UI"/>
                <a:cs typeface="Segoe UI"/>
              </a:rPr>
              <a:t>Cache-</a:t>
            </a: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Augmented</a:t>
            </a:r>
            <a:r>
              <a:rPr sz="2400" spc="-10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Generation</a:t>
            </a:r>
            <a:r>
              <a:rPr sz="2400" spc="-9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Segoe UI"/>
                <a:cs typeface="Segoe UI"/>
              </a:rPr>
              <a:t>(CAG)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8321" y="6367678"/>
            <a:ext cx="172085" cy="188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50" spc="-25" dirty="0">
                <a:solidFill>
                  <a:srgbClr val="FFFFFF"/>
                </a:solidFill>
                <a:latin typeface="Segoe UI"/>
                <a:cs typeface="Segoe UI"/>
              </a:rPr>
              <a:t>19</a:t>
            </a:r>
            <a:endParaRPr sz="1050">
              <a:latin typeface="Segoe UI"/>
              <a:cs typeface="Segoe U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0051" y="1106385"/>
            <a:ext cx="5450839" cy="511797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33616" y="1073848"/>
            <a:ext cx="4995022" cy="519836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pc="-10" dirty="0"/>
              <a:t>General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7341" y="101358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19">
                <a:moveTo>
                  <a:pt x="0" y="0"/>
                </a:moveTo>
                <a:lnTo>
                  <a:pt x="10516806" y="7112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045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33333"/>
                </a:solidFill>
                <a:latin typeface="Segoe UI"/>
                <a:cs typeface="Segoe UI"/>
              </a:rPr>
              <a:t>Agentic</a:t>
            </a:r>
            <a:r>
              <a:rPr sz="2400" spc="-9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Segoe UI"/>
                <a:cs typeface="Segoe UI"/>
              </a:rPr>
              <a:t>frameworks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25292" y="6161023"/>
            <a:ext cx="6258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10" dirty="0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2"/>
              </a:rPr>
              <a:t>https://www.ibm.com/think/insights/top-ai-agent-frameworks</a:t>
            </a:r>
            <a:endParaRPr sz="1800">
              <a:latin typeface="Segoe UI"/>
              <a:cs typeface="Segoe U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8856" y="1162430"/>
            <a:ext cx="11791950" cy="4974590"/>
            <a:chOff x="108856" y="1162430"/>
            <a:chExt cx="11791950" cy="497459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46243" y="1162430"/>
              <a:ext cx="7154036" cy="388061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856" y="1162532"/>
              <a:ext cx="4837176" cy="4974208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pc="-10" dirty="0"/>
              <a:t>General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B1903-9C03-5952-B79D-46897CD41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1FC601E-1FB5-9450-7A4C-967C20FEC267}"/>
              </a:ext>
            </a:extLst>
          </p:cNvPr>
          <p:cNvSpPr/>
          <p:nvPr/>
        </p:nvSpPr>
        <p:spPr>
          <a:xfrm>
            <a:off x="827341" y="101358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19">
                <a:moveTo>
                  <a:pt x="0" y="0"/>
                </a:moveTo>
                <a:lnTo>
                  <a:pt x="10516806" y="7112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8C0A106-3E06-0373-3B0C-463400BF97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045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333333"/>
                </a:solidFill>
                <a:latin typeface="Segoe UI"/>
                <a:cs typeface="Segoe UI"/>
              </a:rPr>
              <a:t>Other Links</a:t>
            </a:r>
            <a:endParaRPr sz="2400" dirty="0">
              <a:latin typeface="Segoe UI"/>
              <a:cs typeface="Segoe UI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CAA7798-5170-ECC3-042F-C4FD59493D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8763000" cy="861774"/>
          </a:xfrm>
        </p:spPr>
        <p:txBody>
          <a:bodyPr/>
          <a:lstStyle/>
          <a:p>
            <a:r>
              <a:rPr lang="en-US" sz="2800" dirty="0" err="1">
                <a:latin typeface="+mn-lt"/>
              </a:rPr>
              <a:t>Apriora</a:t>
            </a:r>
            <a:r>
              <a:rPr lang="en-US" sz="2800" dirty="0">
                <a:latin typeface="+mn-lt"/>
              </a:rPr>
              <a:t> video Link: 		</a:t>
            </a:r>
            <a:r>
              <a:rPr lang="en-US" sz="2800" dirty="0">
                <a:latin typeface="+mn-lt"/>
                <a:hlinkClick r:id="rId2"/>
              </a:rPr>
              <a:t>https://www.youtube.com/watch?v=cyCsNKhba0U</a:t>
            </a:r>
            <a:endParaRPr lang="en-US" sz="2800" dirty="0">
              <a:latin typeface="+mn-lt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93F1195F-D7E0-B90A-2FFC-635672D92F9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pc="-10" dirty="0"/>
              <a:t>General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8C057BDF-76D5-9930-7324-92A020A77C6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B2D76DAE-71E9-AE04-34B5-C8DABFCB5957}"/>
              </a:ext>
            </a:extLst>
          </p:cNvPr>
          <p:cNvSpPr txBox="1">
            <a:spLocks/>
          </p:cNvSpPr>
          <p:nvPr/>
        </p:nvSpPr>
        <p:spPr>
          <a:xfrm>
            <a:off x="617095" y="3686855"/>
            <a:ext cx="8140267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600" b="0" i="0">
                <a:solidFill>
                  <a:srgbClr val="333333"/>
                </a:solidFill>
                <a:latin typeface="Segoe UI"/>
                <a:ea typeface="+mn-ea"/>
                <a:cs typeface="Segoe U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+mn-lt"/>
              </a:rPr>
              <a:t>To Create RAG System : </a:t>
            </a:r>
            <a:r>
              <a:rPr lang="en-US" sz="2800" dirty="0">
                <a:latin typeface="+mn-lt"/>
                <a:hlinkClick r:id="rId3"/>
              </a:rPr>
              <a:t>DeepLearning.AI</a:t>
            </a:r>
            <a:endParaRPr lang="en-US"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038874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7999"/>
                </a:lnTo>
                <a:lnTo>
                  <a:pt x="12192000" y="68579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069332" y="0"/>
            <a:ext cx="1878964" cy="3593465"/>
          </a:xfrm>
          <a:custGeom>
            <a:avLst/>
            <a:gdLst/>
            <a:ahLst/>
            <a:cxnLst/>
            <a:rect l="l" t="t" r="r" b="b"/>
            <a:pathLst>
              <a:path w="1878964" h="3593465">
                <a:moveTo>
                  <a:pt x="1878670" y="0"/>
                </a:moveTo>
                <a:lnTo>
                  <a:pt x="0" y="0"/>
                </a:lnTo>
                <a:lnTo>
                  <a:pt x="0" y="3593163"/>
                </a:lnTo>
                <a:lnTo>
                  <a:pt x="48469" y="3592551"/>
                </a:lnTo>
                <a:lnTo>
                  <a:pt x="96638" y="3590727"/>
                </a:lnTo>
                <a:lnTo>
                  <a:pt x="144490" y="3587705"/>
                </a:lnTo>
                <a:lnTo>
                  <a:pt x="192012" y="3583499"/>
                </a:lnTo>
                <a:lnTo>
                  <a:pt x="239187" y="3578124"/>
                </a:lnTo>
                <a:lnTo>
                  <a:pt x="286003" y="3571596"/>
                </a:lnTo>
                <a:lnTo>
                  <a:pt x="332443" y="3563928"/>
                </a:lnTo>
                <a:lnTo>
                  <a:pt x="378493" y="3555135"/>
                </a:lnTo>
                <a:lnTo>
                  <a:pt x="424139" y="3545233"/>
                </a:lnTo>
                <a:lnTo>
                  <a:pt x="469365" y="3534236"/>
                </a:lnTo>
                <a:lnTo>
                  <a:pt x="514156" y="3522158"/>
                </a:lnTo>
                <a:lnTo>
                  <a:pt x="558499" y="3509015"/>
                </a:lnTo>
                <a:lnTo>
                  <a:pt x="602377" y="3494820"/>
                </a:lnTo>
                <a:lnTo>
                  <a:pt x="645777" y="3479590"/>
                </a:lnTo>
                <a:lnTo>
                  <a:pt x="688683" y="3463338"/>
                </a:lnTo>
                <a:lnTo>
                  <a:pt x="731081" y="3446079"/>
                </a:lnTo>
                <a:lnTo>
                  <a:pt x="772956" y="3427828"/>
                </a:lnTo>
                <a:lnTo>
                  <a:pt x="814293" y="3408600"/>
                </a:lnTo>
                <a:lnTo>
                  <a:pt x="855077" y="3388409"/>
                </a:lnTo>
                <a:lnTo>
                  <a:pt x="895294" y="3367270"/>
                </a:lnTo>
                <a:lnTo>
                  <a:pt x="934929" y="3345199"/>
                </a:lnTo>
                <a:lnTo>
                  <a:pt x="973967" y="3322208"/>
                </a:lnTo>
                <a:lnTo>
                  <a:pt x="1012393" y="3298315"/>
                </a:lnTo>
                <a:lnTo>
                  <a:pt x="1050193" y="3273532"/>
                </a:lnTo>
                <a:lnTo>
                  <a:pt x="1087351" y="3247875"/>
                </a:lnTo>
                <a:lnTo>
                  <a:pt x="1123853" y="3221358"/>
                </a:lnTo>
                <a:lnTo>
                  <a:pt x="1159684" y="3193996"/>
                </a:lnTo>
                <a:lnTo>
                  <a:pt x="1194829" y="3165805"/>
                </a:lnTo>
                <a:lnTo>
                  <a:pt x="1229274" y="3136798"/>
                </a:lnTo>
                <a:lnTo>
                  <a:pt x="1263004" y="3106990"/>
                </a:lnTo>
                <a:lnTo>
                  <a:pt x="1296004" y="3076397"/>
                </a:lnTo>
                <a:lnTo>
                  <a:pt x="1328259" y="3045032"/>
                </a:lnTo>
                <a:lnTo>
                  <a:pt x="1359754" y="3012911"/>
                </a:lnTo>
                <a:lnTo>
                  <a:pt x="1390475" y="2980048"/>
                </a:lnTo>
                <a:lnTo>
                  <a:pt x="1420406" y="2946458"/>
                </a:lnTo>
                <a:lnTo>
                  <a:pt x="1449534" y="2912156"/>
                </a:lnTo>
                <a:lnTo>
                  <a:pt x="1477843" y="2877156"/>
                </a:lnTo>
                <a:lnTo>
                  <a:pt x="1505318" y="2841474"/>
                </a:lnTo>
                <a:lnTo>
                  <a:pt x="1531945" y="2805123"/>
                </a:lnTo>
                <a:lnTo>
                  <a:pt x="1557709" y="2768119"/>
                </a:lnTo>
                <a:lnTo>
                  <a:pt x="1582595" y="2730476"/>
                </a:lnTo>
                <a:lnTo>
                  <a:pt x="1606588" y="2692209"/>
                </a:lnTo>
                <a:lnTo>
                  <a:pt x="1629674" y="2653333"/>
                </a:lnTo>
                <a:lnTo>
                  <a:pt x="1651838" y="2613862"/>
                </a:lnTo>
                <a:lnTo>
                  <a:pt x="1673064" y="2573812"/>
                </a:lnTo>
                <a:lnTo>
                  <a:pt x="1693339" y="2533197"/>
                </a:lnTo>
                <a:lnTo>
                  <a:pt x="1712647" y="2492031"/>
                </a:lnTo>
                <a:lnTo>
                  <a:pt x="1730974" y="2450329"/>
                </a:lnTo>
                <a:lnTo>
                  <a:pt x="1748305" y="2408107"/>
                </a:lnTo>
                <a:lnTo>
                  <a:pt x="1764624" y="2365379"/>
                </a:lnTo>
                <a:lnTo>
                  <a:pt x="1779918" y="2322159"/>
                </a:lnTo>
                <a:lnTo>
                  <a:pt x="1794172" y="2278462"/>
                </a:lnTo>
                <a:lnTo>
                  <a:pt x="1807370" y="2234304"/>
                </a:lnTo>
                <a:lnTo>
                  <a:pt x="1819498" y="2189698"/>
                </a:lnTo>
                <a:lnTo>
                  <a:pt x="1830541" y="2144659"/>
                </a:lnTo>
                <a:lnTo>
                  <a:pt x="1840484" y="2099203"/>
                </a:lnTo>
                <a:lnTo>
                  <a:pt x="1849314" y="2053344"/>
                </a:lnTo>
                <a:lnTo>
                  <a:pt x="1857013" y="2007096"/>
                </a:lnTo>
                <a:lnTo>
                  <a:pt x="1863569" y="1960474"/>
                </a:lnTo>
                <a:lnTo>
                  <a:pt x="1868966" y="1913494"/>
                </a:lnTo>
                <a:lnTo>
                  <a:pt x="1873189" y="1866170"/>
                </a:lnTo>
                <a:lnTo>
                  <a:pt x="1876224" y="1818515"/>
                </a:lnTo>
                <a:lnTo>
                  <a:pt x="1878056" y="1770547"/>
                </a:lnTo>
                <a:lnTo>
                  <a:pt x="1878670" y="1722278"/>
                </a:lnTo>
                <a:lnTo>
                  <a:pt x="1878670" y="0"/>
                </a:lnTo>
                <a:close/>
              </a:path>
            </a:pathLst>
          </a:custGeom>
          <a:solidFill>
            <a:srgbClr val="B123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22225" y="0"/>
            <a:ext cx="1878964" cy="3593465"/>
          </a:xfrm>
          <a:custGeom>
            <a:avLst/>
            <a:gdLst/>
            <a:ahLst/>
            <a:cxnLst/>
            <a:rect l="l" t="t" r="r" b="b"/>
            <a:pathLst>
              <a:path w="1878964" h="3593465">
                <a:moveTo>
                  <a:pt x="1878670" y="0"/>
                </a:moveTo>
                <a:lnTo>
                  <a:pt x="0" y="0"/>
                </a:lnTo>
                <a:lnTo>
                  <a:pt x="0" y="3593163"/>
                </a:lnTo>
                <a:lnTo>
                  <a:pt x="48469" y="3592551"/>
                </a:lnTo>
                <a:lnTo>
                  <a:pt x="96638" y="3590727"/>
                </a:lnTo>
                <a:lnTo>
                  <a:pt x="144490" y="3587705"/>
                </a:lnTo>
                <a:lnTo>
                  <a:pt x="192012" y="3583499"/>
                </a:lnTo>
                <a:lnTo>
                  <a:pt x="239187" y="3578124"/>
                </a:lnTo>
                <a:lnTo>
                  <a:pt x="286003" y="3571596"/>
                </a:lnTo>
                <a:lnTo>
                  <a:pt x="332443" y="3563928"/>
                </a:lnTo>
                <a:lnTo>
                  <a:pt x="378493" y="3555135"/>
                </a:lnTo>
                <a:lnTo>
                  <a:pt x="424139" y="3545233"/>
                </a:lnTo>
                <a:lnTo>
                  <a:pt x="469365" y="3534236"/>
                </a:lnTo>
                <a:lnTo>
                  <a:pt x="514156" y="3522158"/>
                </a:lnTo>
                <a:lnTo>
                  <a:pt x="558499" y="3509015"/>
                </a:lnTo>
                <a:lnTo>
                  <a:pt x="602377" y="3494820"/>
                </a:lnTo>
                <a:lnTo>
                  <a:pt x="645777" y="3479590"/>
                </a:lnTo>
                <a:lnTo>
                  <a:pt x="688683" y="3463338"/>
                </a:lnTo>
                <a:lnTo>
                  <a:pt x="731081" y="3446079"/>
                </a:lnTo>
                <a:lnTo>
                  <a:pt x="772956" y="3427828"/>
                </a:lnTo>
                <a:lnTo>
                  <a:pt x="814293" y="3408600"/>
                </a:lnTo>
                <a:lnTo>
                  <a:pt x="855077" y="3388409"/>
                </a:lnTo>
                <a:lnTo>
                  <a:pt x="895294" y="3367270"/>
                </a:lnTo>
                <a:lnTo>
                  <a:pt x="934929" y="3345199"/>
                </a:lnTo>
                <a:lnTo>
                  <a:pt x="973967" y="3322208"/>
                </a:lnTo>
                <a:lnTo>
                  <a:pt x="1012393" y="3298315"/>
                </a:lnTo>
                <a:lnTo>
                  <a:pt x="1050193" y="3273532"/>
                </a:lnTo>
                <a:lnTo>
                  <a:pt x="1087351" y="3247875"/>
                </a:lnTo>
                <a:lnTo>
                  <a:pt x="1123853" y="3221358"/>
                </a:lnTo>
                <a:lnTo>
                  <a:pt x="1159684" y="3193996"/>
                </a:lnTo>
                <a:lnTo>
                  <a:pt x="1194829" y="3165805"/>
                </a:lnTo>
                <a:lnTo>
                  <a:pt x="1229274" y="3136798"/>
                </a:lnTo>
                <a:lnTo>
                  <a:pt x="1263004" y="3106990"/>
                </a:lnTo>
                <a:lnTo>
                  <a:pt x="1296004" y="3076397"/>
                </a:lnTo>
                <a:lnTo>
                  <a:pt x="1328259" y="3045032"/>
                </a:lnTo>
                <a:lnTo>
                  <a:pt x="1359754" y="3012911"/>
                </a:lnTo>
                <a:lnTo>
                  <a:pt x="1390475" y="2980048"/>
                </a:lnTo>
                <a:lnTo>
                  <a:pt x="1420406" y="2946458"/>
                </a:lnTo>
                <a:lnTo>
                  <a:pt x="1449534" y="2912156"/>
                </a:lnTo>
                <a:lnTo>
                  <a:pt x="1477843" y="2877156"/>
                </a:lnTo>
                <a:lnTo>
                  <a:pt x="1505318" y="2841474"/>
                </a:lnTo>
                <a:lnTo>
                  <a:pt x="1531945" y="2805123"/>
                </a:lnTo>
                <a:lnTo>
                  <a:pt x="1557709" y="2768119"/>
                </a:lnTo>
                <a:lnTo>
                  <a:pt x="1582595" y="2730476"/>
                </a:lnTo>
                <a:lnTo>
                  <a:pt x="1606588" y="2692209"/>
                </a:lnTo>
                <a:lnTo>
                  <a:pt x="1629674" y="2653333"/>
                </a:lnTo>
                <a:lnTo>
                  <a:pt x="1651838" y="2613862"/>
                </a:lnTo>
                <a:lnTo>
                  <a:pt x="1673064" y="2573812"/>
                </a:lnTo>
                <a:lnTo>
                  <a:pt x="1693339" y="2533197"/>
                </a:lnTo>
                <a:lnTo>
                  <a:pt x="1712647" y="2492031"/>
                </a:lnTo>
                <a:lnTo>
                  <a:pt x="1730974" y="2450329"/>
                </a:lnTo>
                <a:lnTo>
                  <a:pt x="1748305" y="2408107"/>
                </a:lnTo>
                <a:lnTo>
                  <a:pt x="1764624" y="2365379"/>
                </a:lnTo>
                <a:lnTo>
                  <a:pt x="1779918" y="2322159"/>
                </a:lnTo>
                <a:lnTo>
                  <a:pt x="1794172" y="2278462"/>
                </a:lnTo>
                <a:lnTo>
                  <a:pt x="1807370" y="2234304"/>
                </a:lnTo>
                <a:lnTo>
                  <a:pt x="1819498" y="2189698"/>
                </a:lnTo>
                <a:lnTo>
                  <a:pt x="1830541" y="2144659"/>
                </a:lnTo>
                <a:lnTo>
                  <a:pt x="1840484" y="2099203"/>
                </a:lnTo>
                <a:lnTo>
                  <a:pt x="1849314" y="2053344"/>
                </a:lnTo>
                <a:lnTo>
                  <a:pt x="1857013" y="2007096"/>
                </a:lnTo>
                <a:lnTo>
                  <a:pt x="1863569" y="1960474"/>
                </a:lnTo>
                <a:lnTo>
                  <a:pt x="1868966" y="1913494"/>
                </a:lnTo>
                <a:lnTo>
                  <a:pt x="1873189" y="1866170"/>
                </a:lnTo>
                <a:lnTo>
                  <a:pt x="1876224" y="1818515"/>
                </a:lnTo>
                <a:lnTo>
                  <a:pt x="1878056" y="1770547"/>
                </a:lnTo>
                <a:lnTo>
                  <a:pt x="1878670" y="1722278"/>
                </a:lnTo>
                <a:lnTo>
                  <a:pt x="1878670" y="0"/>
                </a:lnTo>
                <a:close/>
              </a:path>
            </a:pathLst>
          </a:custGeom>
          <a:solidFill>
            <a:srgbClr val="B123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663064" cy="3593465"/>
          </a:xfrm>
          <a:custGeom>
            <a:avLst/>
            <a:gdLst/>
            <a:ahLst/>
            <a:cxnLst/>
            <a:rect l="l" t="t" r="r" b="b"/>
            <a:pathLst>
              <a:path w="1663064" h="3593465">
                <a:moveTo>
                  <a:pt x="1663000" y="0"/>
                </a:moveTo>
                <a:lnTo>
                  <a:pt x="0" y="0"/>
                </a:lnTo>
                <a:lnTo>
                  <a:pt x="0" y="2592147"/>
                </a:lnTo>
                <a:lnTo>
                  <a:pt x="36360" y="2658046"/>
                </a:lnTo>
                <a:lnTo>
                  <a:pt x="60637" y="2698640"/>
                </a:lnTo>
                <a:lnTo>
                  <a:pt x="85904" y="2738562"/>
                </a:lnTo>
                <a:lnTo>
                  <a:pt x="112143" y="2777796"/>
                </a:lnTo>
                <a:lnTo>
                  <a:pt x="139339" y="2816325"/>
                </a:lnTo>
                <a:lnTo>
                  <a:pt x="167475" y="2854132"/>
                </a:lnTo>
                <a:lnTo>
                  <a:pt x="196532" y="2891200"/>
                </a:lnTo>
                <a:lnTo>
                  <a:pt x="226495" y="2927513"/>
                </a:lnTo>
                <a:lnTo>
                  <a:pt x="257346" y="2963054"/>
                </a:lnTo>
                <a:lnTo>
                  <a:pt x="289069" y="2997806"/>
                </a:lnTo>
                <a:lnTo>
                  <a:pt x="321646" y="3031753"/>
                </a:lnTo>
                <a:lnTo>
                  <a:pt x="355061" y="3064877"/>
                </a:lnTo>
                <a:lnTo>
                  <a:pt x="389297" y="3097162"/>
                </a:lnTo>
                <a:lnTo>
                  <a:pt x="424336" y="3128591"/>
                </a:lnTo>
                <a:lnTo>
                  <a:pt x="460163" y="3159148"/>
                </a:lnTo>
                <a:lnTo>
                  <a:pt x="496759" y="3188815"/>
                </a:lnTo>
                <a:lnTo>
                  <a:pt x="534108" y="3217577"/>
                </a:lnTo>
                <a:lnTo>
                  <a:pt x="572193" y="3245415"/>
                </a:lnTo>
                <a:lnTo>
                  <a:pt x="610997" y="3272314"/>
                </a:lnTo>
                <a:lnTo>
                  <a:pt x="650503" y="3298257"/>
                </a:lnTo>
                <a:lnTo>
                  <a:pt x="690694" y="3323226"/>
                </a:lnTo>
                <a:lnTo>
                  <a:pt x="731554" y="3347206"/>
                </a:lnTo>
                <a:lnTo>
                  <a:pt x="773065" y="3370179"/>
                </a:lnTo>
                <a:lnTo>
                  <a:pt x="815210" y="3392129"/>
                </a:lnTo>
                <a:lnTo>
                  <a:pt x="857973" y="3413039"/>
                </a:lnTo>
                <a:lnTo>
                  <a:pt x="901337" y="3432893"/>
                </a:lnTo>
                <a:lnTo>
                  <a:pt x="945284" y="3451673"/>
                </a:lnTo>
                <a:lnTo>
                  <a:pt x="989797" y="3469362"/>
                </a:lnTo>
                <a:lnTo>
                  <a:pt x="1034860" y="3485945"/>
                </a:lnTo>
                <a:lnTo>
                  <a:pt x="1080456" y="3501403"/>
                </a:lnTo>
                <a:lnTo>
                  <a:pt x="1126568" y="3515722"/>
                </a:lnTo>
                <a:lnTo>
                  <a:pt x="1173179" y="3528883"/>
                </a:lnTo>
                <a:lnTo>
                  <a:pt x="1220272" y="3540870"/>
                </a:lnTo>
                <a:lnTo>
                  <a:pt x="1267829" y="3551666"/>
                </a:lnTo>
                <a:lnTo>
                  <a:pt x="1315835" y="3561255"/>
                </a:lnTo>
                <a:lnTo>
                  <a:pt x="1364272" y="3569620"/>
                </a:lnTo>
                <a:lnTo>
                  <a:pt x="1413123" y="3576744"/>
                </a:lnTo>
                <a:lnTo>
                  <a:pt x="1462372" y="3582610"/>
                </a:lnTo>
                <a:lnTo>
                  <a:pt x="1512001" y="3587202"/>
                </a:lnTo>
                <a:lnTo>
                  <a:pt x="1561993" y="3590502"/>
                </a:lnTo>
                <a:lnTo>
                  <a:pt x="1612332" y="3592495"/>
                </a:lnTo>
                <a:lnTo>
                  <a:pt x="1663000" y="3593163"/>
                </a:lnTo>
                <a:lnTo>
                  <a:pt x="1663000" y="0"/>
                </a:lnTo>
                <a:close/>
              </a:path>
            </a:pathLst>
          </a:custGeom>
          <a:solidFill>
            <a:srgbClr val="B123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524163" y="0"/>
            <a:ext cx="1668145" cy="3593465"/>
          </a:xfrm>
          <a:custGeom>
            <a:avLst/>
            <a:gdLst/>
            <a:ahLst/>
            <a:cxnLst/>
            <a:rect l="l" t="t" r="r" b="b"/>
            <a:pathLst>
              <a:path w="1668145" h="3593465">
                <a:moveTo>
                  <a:pt x="1667837" y="0"/>
                </a:moveTo>
                <a:lnTo>
                  <a:pt x="0" y="0"/>
                </a:lnTo>
                <a:lnTo>
                  <a:pt x="0" y="3593163"/>
                </a:lnTo>
                <a:lnTo>
                  <a:pt x="50663" y="3592495"/>
                </a:lnTo>
                <a:lnTo>
                  <a:pt x="100998" y="3590502"/>
                </a:lnTo>
                <a:lnTo>
                  <a:pt x="150986" y="3587202"/>
                </a:lnTo>
                <a:lnTo>
                  <a:pt x="200611" y="3582610"/>
                </a:lnTo>
                <a:lnTo>
                  <a:pt x="249856" y="3576744"/>
                </a:lnTo>
                <a:lnTo>
                  <a:pt x="298704" y="3569620"/>
                </a:lnTo>
                <a:lnTo>
                  <a:pt x="347138" y="3561255"/>
                </a:lnTo>
                <a:lnTo>
                  <a:pt x="395141" y="3551666"/>
                </a:lnTo>
                <a:lnTo>
                  <a:pt x="442696" y="3540870"/>
                </a:lnTo>
                <a:lnTo>
                  <a:pt x="489787" y="3528883"/>
                </a:lnTo>
                <a:lnTo>
                  <a:pt x="536396" y="3515722"/>
                </a:lnTo>
                <a:lnTo>
                  <a:pt x="582505" y="3501403"/>
                </a:lnTo>
                <a:lnTo>
                  <a:pt x="628100" y="3485945"/>
                </a:lnTo>
                <a:lnTo>
                  <a:pt x="673161" y="3469362"/>
                </a:lnTo>
                <a:lnTo>
                  <a:pt x="717674" y="3451673"/>
                </a:lnTo>
                <a:lnTo>
                  <a:pt x="761619" y="3432893"/>
                </a:lnTo>
                <a:lnTo>
                  <a:pt x="804981" y="3413039"/>
                </a:lnTo>
                <a:lnTo>
                  <a:pt x="847743" y="3392129"/>
                </a:lnTo>
                <a:lnTo>
                  <a:pt x="889888" y="3370179"/>
                </a:lnTo>
                <a:lnTo>
                  <a:pt x="931398" y="3347206"/>
                </a:lnTo>
                <a:lnTo>
                  <a:pt x="972257" y="3323226"/>
                </a:lnTo>
                <a:lnTo>
                  <a:pt x="1012448" y="3298257"/>
                </a:lnTo>
                <a:lnTo>
                  <a:pt x="1051953" y="3272314"/>
                </a:lnTo>
                <a:lnTo>
                  <a:pt x="1090757" y="3245415"/>
                </a:lnTo>
                <a:lnTo>
                  <a:pt x="1128841" y="3217577"/>
                </a:lnTo>
                <a:lnTo>
                  <a:pt x="1166190" y="3188815"/>
                </a:lnTo>
                <a:lnTo>
                  <a:pt x="1202786" y="3159148"/>
                </a:lnTo>
                <a:lnTo>
                  <a:pt x="1238612" y="3128591"/>
                </a:lnTo>
                <a:lnTo>
                  <a:pt x="1273651" y="3097162"/>
                </a:lnTo>
                <a:lnTo>
                  <a:pt x="1307886" y="3064877"/>
                </a:lnTo>
                <a:lnTo>
                  <a:pt x="1341300" y="3031753"/>
                </a:lnTo>
                <a:lnTo>
                  <a:pt x="1373877" y="2997806"/>
                </a:lnTo>
                <a:lnTo>
                  <a:pt x="1405599" y="2963054"/>
                </a:lnTo>
                <a:lnTo>
                  <a:pt x="1436450" y="2927513"/>
                </a:lnTo>
                <a:lnTo>
                  <a:pt x="1466412" y="2891200"/>
                </a:lnTo>
                <a:lnTo>
                  <a:pt x="1495469" y="2854132"/>
                </a:lnTo>
                <a:lnTo>
                  <a:pt x="1523604" y="2816325"/>
                </a:lnTo>
                <a:lnTo>
                  <a:pt x="1550799" y="2777796"/>
                </a:lnTo>
                <a:lnTo>
                  <a:pt x="1577037" y="2738562"/>
                </a:lnTo>
                <a:lnTo>
                  <a:pt x="1602303" y="2698640"/>
                </a:lnTo>
                <a:lnTo>
                  <a:pt x="1626578" y="2658046"/>
                </a:lnTo>
                <a:lnTo>
                  <a:pt x="1649847" y="2616797"/>
                </a:lnTo>
                <a:lnTo>
                  <a:pt x="1667837" y="2582921"/>
                </a:lnTo>
                <a:lnTo>
                  <a:pt x="1667837" y="0"/>
                </a:lnTo>
                <a:close/>
              </a:path>
            </a:pathLst>
          </a:custGeom>
          <a:solidFill>
            <a:srgbClr val="B123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374829" y="0"/>
            <a:ext cx="1878964" cy="3593465"/>
          </a:xfrm>
          <a:custGeom>
            <a:avLst/>
            <a:gdLst/>
            <a:ahLst/>
            <a:cxnLst/>
            <a:rect l="l" t="t" r="r" b="b"/>
            <a:pathLst>
              <a:path w="1878965" h="3593465">
                <a:moveTo>
                  <a:pt x="1878670" y="0"/>
                </a:moveTo>
                <a:lnTo>
                  <a:pt x="0" y="0"/>
                </a:lnTo>
                <a:lnTo>
                  <a:pt x="0" y="1722278"/>
                </a:lnTo>
                <a:lnTo>
                  <a:pt x="613" y="1770547"/>
                </a:lnTo>
                <a:lnTo>
                  <a:pt x="2445" y="1818515"/>
                </a:lnTo>
                <a:lnTo>
                  <a:pt x="5480" y="1866170"/>
                </a:lnTo>
                <a:lnTo>
                  <a:pt x="9704" y="1913494"/>
                </a:lnTo>
                <a:lnTo>
                  <a:pt x="15101" y="1960474"/>
                </a:lnTo>
                <a:lnTo>
                  <a:pt x="21656" y="2007096"/>
                </a:lnTo>
                <a:lnTo>
                  <a:pt x="29356" y="2053344"/>
                </a:lnTo>
                <a:lnTo>
                  <a:pt x="38185" y="2099203"/>
                </a:lnTo>
                <a:lnTo>
                  <a:pt x="48129" y="2144659"/>
                </a:lnTo>
                <a:lnTo>
                  <a:pt x="59172" y="2189698"/>
                </a:lnTo>
                <a:lnTo>
                  <a:pt x="71300" y="2234304"/>
                </a:lnTo>
                <a:lnTo>
                  <a:pt x="84498" y="2278462"/>
                </a:lnTo>
                <a:lnTo>
                  <a:pt x="98751" y="2322159"/>
                </a:lnTo>
                <a:lnTo>
                  <a:pt x="114045" y="2365379"/>
                </a:lnTo>
                <a:lnTo>
                  <a:pt x="130365" y="2408107"/>
                </a:lnTo>
                <a:lnTo>
                  <a:pt x="147695" y="2450329"/>
                </a:lnTo>
                <a:lnTo>
                  <a:pt x="166022" y="2492031"/>
                </a:lnTo>
                <a:lnTo>
                  <a:pt x="185330" y="2533197"/>
                </a:lnTo>
                <a:lnTo>
                  <a:pt x="205605" y="2573812"/>
                </a:lnTo>
                <a:lnTo>
                  <a:pt x="226832" y="2613862"/>
                </a:lnTo>
                <a:lnTo>
                  <a:pt x="248995" y="2653333"/>
                </a:lnTo>
                <a:lnTo>
                  <a:pt x="272081" y="2692209"/>
                </a:lnTo>
                <a:lnTo>
                  <a:pt x="296075" y="2730476"/>
                </a:lnTo>
                <a:lnTo>
                  <a:pt x="320961" y="2768119"/>
                </a:lnTo>
                <a:lnTo>
                  <a:pt x="346725" y="2805123"/>
                </a:lnTo>
                <a:lnTo>
                  <a:pt x="373352" y="2841474"/>
                </a:lnTo>
                <a:lnTo>
                  <a:pt x="400827" y="2877156"/>
                </a:lnTo>
                <a:lnTo>
                  <a:pt x="429136" y="2912156"/>
                </a:lnTo>
                <a:lnTo>
                  <a:pt x="458263" y="2946458"/>
                </a:lnTo>
                <a:lnTo>
                  <a:pt x="488195" y="2980048"/>
                </a:lnTo>
                <a:lnTo>
                  <a:pt x="518916" y="3012911"/>
                </a:lnTo>
                <a:lnTo>
                  <a:pt x="550411" y="3045032"/>
                </a:lnTo>
                <a:lnTo>
                  <a:pt x="582666" y="3076397"/>
                </a:lnTo>
                <a:lnTo>
                  <a:pt x="615666" y="3106990"/>
                </a:lnTo>
                <a:lnTo>
                  <a:pt x="649395" y="3136798"/>
                </a:lnTo>
                <a:lnTo>
                  <a:pt x="683840" y="3165805"/>
                </a:lnTo>
                <a:lnTo>
                  <a:pt x="718986" y="3193996"/>
                </a:lnTo>
                <a:lnTo>
                  <a:pt x="754817" y="3221358"/>
                </a:lnTo>
                <a:lnTo>
                  <a:pt x="791319" y="3247875"/>
                </a:lnTo>
                <a:lnTo>
                  <a:pt x="828477" y="3273532"/>
                </a:lnTo>
                <a:lnTo>
                  <a:pt x="866276" y="3298315"/>
                </a:lnTo>
                <a:lnTo>
                  <a:pt x="904703" y="3322208"/>
                </a:lnTo>
                <a:lnTo>
                  <a:pt x="943740" y="3345199"/>
                </a:lnTo>
                <a:lnTo>
                  <a:pt x="983375" y="3367270"/>
                </a:lnTo>
                <a:lnTo>
                  <a:pt x="1023592" y="3388409"/>
                </a:lnTo>
                <a:lnTo>
                  <a:pt x="1064377" y="3408600"/>
                </a:lnTo>
                <a:lnTo>
                  <a:pt x="1105714" y="3427828"/>
                </a:lnTo>
                <a:lnTo>
                  <a:pt x="1147589" y="3446079"/>
                </a:lnTo>
                <a:lnTo>
                  <a:pt x="1189987" y="3463338"/>
                </a:lnTo>
                <a:lnTo>
                  <a:pt x="1232893" y="3479590"/>
                </a:lnTo>
                <a:lnTo>
                  <a:pt x="1276293" y="3494820"/>
                </a:lnTo>
                <a:lnTo>
                  <a:pt x="1320171" y="3509015"/>
                </a:lnTo>
                <a:lnTo>
                  <a:pt x="1364513" y="3522158"/>
                </a:lnTo>
                <a:lnTo>
                  <a:pt x="1409305" y="3534236"/>
                </a:lnTo>
                <a:lnTo>
                  <a:pt x="1454531" y="3545233"/>
                </a:lnTo>
                <a:lnTo>
                  <a:pt x="1500176" y="3555135"/>
                </a:lnTo>
                <a:lnTo>
                  <a:pt x="1546226" y="3563928"/>
                </a:lnTo>
                <a:lnTo>
                  <a:pt x="1592667" y="3571596"/>
                </a:lnTo>
                <a:lnTo>
                  <a:pt x="1639482" y="3578124"/>
                </a:lnTo>
                <a:lnTo>
                  <a:pt x="1686658" y="3583499"/>
                </a:lnTo>
                <a:lnTo>
                  <a:pt x="1734180" y="3587705"/>
                </a:lnTo>
                <a:lnTo>
                  <a:pt x="1782032" y="3590727"/>
                </a:lnTo>
                <a:lnTo>
                  <a:pt x="1830200" y="3592551"/>
                </a:lnTo>
                <a:lnTo>
                  <a:pt x="1878670" y="3593163"/>
                </a:lnTo>
                <a:lnTo>
                  <a:pt x="1878670" y="0"/>
                </a:lnTo>
                <a:close/>
              </a:path>
            </a:pathLst>
          </a:custGeom>
          <a:solidFill>
            <a:srgbClr val="B123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239083" y="0"/>
            <a:ext cx="1878964" cy="3593465"/>
          </a:xfrm>
          <a:custGeom>
            <a:avLst/>
            <a:gdLst/>
            <a:ahLst/>
            <a:cxnLst/>
            <a:rect l="l" t="t" r="r" b="b"/>
            <a:pathLst>
              <a:path w="1878965" h="3593465">
                <a:moveTo>
                  <a:pt x="1878670" y="0"/>
                </a:moveTo>
                <a:lnTo>
                  <a:pt x="0" y="0"/>
                </a:lnTo>
                <a:lnTo>
                  <a:pt x="0" y="1722278"/>
                </a:lnTo>
                <a:lnTo>
                  <a:pt x="613" y="1770547"/>
                </a:lnTo>
                <a:lnTo>
                  <a:pt x="2445" y="1818515"/>
                </a:lnTo>
                <a:lnTo>
                  <a:pt x="5480" y="1866170"/>
                </a:lnTo>
                <a:lnTo>
                  <a:pt x="9704" y="1913494"/>
                </a:lnTo>
                <a:lnTo>
                  <a:pt x="15101" y="1960474"/>
                </a:lnTo>
                <a:lnTo>
                  <a:pt x="21656" y="2007096"/>
                </a:lnTo>
                <a:lnTo>
                  <a:pt x="29356" y="2053344"/>
                </a:lnTo>
                <a:lnTo>
                  <a:pt x="38185" y="2099203"/>
                </a:lnTo>
                <a:lnTo>
                  <a:pt x="48129" y="2144659"/>
                </a:lnTo>
                <a:lnTo>
                  <a:pt x="59172" y="2189698"/>
                </a:lnTo>
                <a:lnTo>
                  <a:pt x="71300" y="2234304"/>
                </a:lnTo>
                <a:lnTo>
                  <a:pt x="84498" y="2278462"/>
                </a:lnTo>
                <a:lnTo>
                  <a:pt x="98751" y="2322159"/>
                </a:lnTo>
                <a:lnTo>
                  <a:pt x="114045" y="2365379"/>
                </a:lnTo>
                <a:lnTo>
                  <a:pt x="130365" y="2408107"/>
                </a:lnTo>
                <a:lnTo>
                  <a:pt x="147695" y="2450329"/>
                </a:lnTo>
                <a:lnTo>
                  <a:pt x="166022" y="2492031"/>
                </a:lnTo>
                <a:lnTo>
                  <a:pt x="185330" y="2533197"/>
                </a:lnTo>
                <a:lnTo>
                  <a:pt x="205605" y="2573812"/>
                </a:lnTo>
                <a:lnTo>
                  <a:pt x="226832" y="2613862"/>
                </a:lnTo>
                <a:lnTo>
                  <a:pt x="248995" y="2653333"/>
                </a:lnTo>
                <a:lnTo>
                  <a:pt x="272081" y="2692209"/>
                </a:lnTo>
                <a:lnTo>
                  <a:pt x="296075" y="2730476"/>
                </a:lnTo>
                <a:lnTo>
                  <a:pt x="320961" y="2768119"/>
                </a:lnTo>
                <a:lnTo>
                  <a:pt x="346725" y="2805123"/>
                </a:lnTo>
                <a:lnTo>
                  <a:pt x="373352" y="2841474"/>
                </a:lnTo>
                <a:lnTo>
                  <a:pt x="400827" y="2877156"/>
                </a:lnTo>
                <a:lnTo>
                  <a:pt x="429136" y="2912156"/>
                </a:lnTo>
                <a:lnTo>
                  <a:pt x="458263" y="2946458"/>
                </a:lnTo>
                <a:lnTo>
                  <a:pt x="488195" y="2980048"/>
                </a:lnTo>
                <a:lnTo>
                  <a:pt x="518916" y="3012911"/>
                </a:lnTo>
                <a:lnTo>
                  <a:pt x="550411" y="3045032"/>
                </a:lnTo>
                <a:lnTo>
                  <a:pt x="582666" y="3076397"/>
                </a:lnTo>
                <a:lnTo>
                  <a:pt x="615666" y="3106990"/>
                </a:lnTo>
                <a:lnTo>
                  <a:pt x="649395" y="3136798"/>
                </a:lnTo>
                <a:lnTo>
                  <a:pt x="683840" y="3165805"/>
                </a:lnTo>
                <a:lnTo>
                  <a:pt x="718986" y="3193996"/>
                </a:lnTo>
                <a:lnTo>
                  <a:pt x="754817" y="3221358"/>
                </a:lnTo>
                <a:lnTo>
                  <a:pt x="791319" y="3247875"/>
                </a:lnTo>
                <a:lnTo>
                  <a:pt x="828477" y="3273532"/>
                </a:lnTo>
                <a:lnTo>
                  <a:pt x="866276" y="3298315"/>
                </a:lnTo>
                <a:lnTo>
                  <a:pt x="904703" y="3322208"/>
                </a:lnTo>
                <a:lnTo>
                  <a:pt x="943740" y="3345199"/>
                </a:lnTo>
                <a:lnTo>
                  <a:pt x="983375" y="3367270"/>
                </a:lnTo>
                <a:lnTo>
                  <a:pt x="1023592" y="3388409"/>
                </a:lnTo>
                <a:lnTo>
                  <a:pt x="1064377" y="3408600"/>
                </a:lnTo>
                <a:lnTo>
                  <a:pt x="1105714" y="3427828"/>
                </a:lnTo>
                <a:lnTo>
                  <a:pt x="1147589" y="3446079"/>
                </a:lnTo>
                <a:lnTo>
                  <a:pt x="1189987" y="3463338"/>
                </a:lnTo>
                <a:lnTo>
                  <a:pt x="1232893" y="3479590"/>
                </a:lnTo>
                <a:lnTo>
                  <a:pt x="1276293" y="3494820"/>
                </a:lnTo>
                <a:lnTo>
                  <a:pt x="1320171" y="3509015"/>
                </a:lnTo>
                <a:lnTo>
                  <a:pt x="1364513" y="3522158"/>
                </a:lnTo>
                <a:lnTo>
                  <a:pt x="1409305" y="3534236"/>
                </a:lnTo>
                <a:lnTo>
                  <a:pt x="1454531" y="3545233"/>
                </a:lnTo>
                <a:lnTo>
                  <a:pt x="1500176" y="3555135"/>
                </a:lnTo>
                <a:lnTo>
                  <a:pt x="1546226" y="3563928"/>
                </a:lnTo>
                <a:lnTo>
                  <a:pt x="1592667" y="3571596"/>
                </a:lnTo>
                <a:lnTo>
                  <a:pt x="1639482" y="3578124"/>
                </a:lnTo>
                <a:lnTo>
                  <a:pt x="1686658" y="3583499"/>
                </a:lnTo>
                <a:lnTo>
                  <a:pt x="1734180" y="3587705"/>
                </a:lnTo>
                <a:lnTo>
                  <a:pt x="1782032" y="3590727"/>
                </a:lnTo>
                <a:lnTo>
                  <a:pt x="1830200" y="3592551"/>
                </a:lnTo>
                <a:lnTo>
                  <a:pt x="1878670" y="3593163"/>
                </a:lnTo>
                <a:lnTo>
                  <a:pt x="1878670" y="0"/>
                </a:lnTo>
                <a:close/>
              </a:path>
            </a:pathLst>
          </a:custGeom>
          <a:solidFill>
            <a:srgbClr val="B123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929888" y="2683840"/>
            <a:ext cx="4565650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dirty="0">
                <a:latin typeface="Candara"/>
                <a:cs typeface="Candara"/>
              </a:rPr>
              <a:t>Thank</a:t>
            </a:r>
            <a:r>
              <a:rPr sz="8000" spc="-30" dirty="0">
                <a:latin typeface="Candara"/>
                <a:cs typeface="Candara"/>
              </a:rPr>
              <a:t> </a:t>
            </a:r>
            <a:r>
              <a:rPr sz="8000" spc="-60" dirty="0">
                <a:latin typeface="Candara"/>
                <a:cs typeface="Candara"/>
              </a:rPr>
              <a:t>You</a:t>
            </a:r>
            <a:endParaRPr sz="8000">
              <a:latin typeface="Candara"/>
              <a:cs typeface="Candar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664355"/>
            <a:ext cx="12192000" cy="894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Words>937</Words>
  <Application>Microsoft Office PowerPoint</Application>
  <PresentationFormat>Widescreen</PresentationFormat>
  <Paragraphs>92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Candara</vt:lpstr>
      <vt:lpstr>Gill Sans MT</vt:lpstr>
      <vt:lpstr>Segoe UI</vt:lpstr>
      <vt:lpstr>Office Theme</vt:lpstr>
      <vt:lpstr>PowerPoint Presentation</vt:lpstr>
      <vt:lpstr>Foundation Models and Fine-Tuning</vt:lpstr>
      <vt:lpstr>Fine-Tuning – Getting started</vt:lpstr>
      <vt:lpstr>Retrieval-Augmented Generation (RAG)</vt:lpstr>
      <vt:lpstr>Retrieval-Augmented Generation (RAG) – Cont.</vt:lpstr>
      <vt:lpstr>RAG data pipeline flow</vt:lpstr>
      <vt:lpstr>RAG – Embeddings</vt:lpstr>
      <vt:lpstr>RAG – Embeddings (Cont.)</vt:lpstr>
      <vt:lpstr>RAG – Creating Embeddings</vt:lpstr>
      <vt:lpstr>RAG – Vector databases</vt:lpstr>
      <vt:lpstr>RAG – Putting all together</vt:lpstr>
      <vt:lpstr>RAG re-represented</vt:lpstr>
      <vt:lpstr>RAG developer’ stack</vt:lpstr>
      <vt:lpstr>RAG developer’ stack</vt:lpstr>
      <vt:lpstr>RAG Architectures</vt:lpstr>
      <vt:lpstr>Cache-Augmented Generation (CAG)</vt:lpstr>
      <vt:lpstr>Agentic frameworks</vt:lpstr>
      <vt:lpstr>Other Links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Technology Institute</dc:title>
  <dc:creator>BEU-Ramiz</dc:creator>
  <cp:lastModifiedBy>ITI</cp:lastModifiedBy>
  <cp:revision>2</cp:revision>
  <dcterms:created xsi:type="dcterms:W3CDTF">2025-08-27T12:05:38Z</dcterms:created>
  <dcterms:modified xsi:type="dcterms:W3CDTF">2026-07-30T11:06:58Z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2025-03-22T00:00:00Z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2025-08-27T00:00:00Z</vt:filetime>
  </property>
  <property fmtid="{D5CDD505-2E9C-101B-9397-08002B2CF9AE}" pid="5" name="Producer">
    <vt:lpwstr>3-Heights(TM) PDF Security Shell 4.8.25.2 (http://www.pdf-tools.com)</vt:lpwstr>
  </property>
</Properties>
</file>